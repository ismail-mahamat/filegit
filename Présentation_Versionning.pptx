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934"/>
  </p:normalViewPr>
  <p:slideViewPr>
    <p:cSldViewPr snapToGrid="0" snapToObjects="1">
      <p:cViewPr varScale="1">
        <p:scale>
          <a:sx n="115" d="100"/>
          <a:sy n="115" d="100"/>
        </p:scale>
        <p:origin x="47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12/6/24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fr-FR"/>
              <a:t>Modifiez le style du titre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12/6/24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12/6/24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12/6/24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12/6/24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fr-FR"/>
              <a:t>Modifiez le style du titre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12/6/24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12/6/24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12/6/24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12/6/24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5F61F8F5-56FA-B447-A875-DC613A0B90D8}"/>
              </a:ext>
            </a:extLst>
          </p:cNvPr>
          <p:cNvSpPr>
            <a:spLocks noGrp="1"/>
          </p:cNvSpPr>
          <p:nvPr>
            <p:ph type="title"/>
          </p:nvPr>
        </p:nvSpPr>
        <p:spPr>
          <a:xfrm>
            <a:off x="1453662" y="5414696"/>
            <a:ext cx="2684585" cy="689514"/>
          </a:xfrm>
        </p:spPr>
        <p:txBody>
          <a:bodyPr/>
          <a:lstStyle/>
          <a:p>
            <a:r>
              <a:rPr lang="fr-FR" b="1" i="1" dirty="0">
                <a:solidFill>
                  <a:schemeClr val="bg1"/>
                </a:solidFill>
              </a:rPr>
              <a:t>Libasse Gassama</a:t>
            </a:r>
          </a:p>
        </p:txBody>
      </p:sp>
      <p:sp>
        <p:nvSpPr>
          <p:cNvPr id="9" name="Espace réservé du contenu 8">
            <a:extLst>
              <a:ext uri="{FF2B5EF4-FFF2-40B4-BE49-F238E27FC236}">
                <a16:creationId xmlns:a16="http://schemas.microsoft.com/office/drawing/2014/main" id="{76D7575C-2900-6F44-AF1E-B6DE45E39908}"/>
              </a:ext>
            </a:extLst>
          </p:cNvPr>
          <p:cNvSpPr>
            <a:spLocks noGrp="1"/>
          </p:cNvSpPr>
          <p:nvPr>
            <p:ph idx="1"/>
          </p:nvPr>
        </p:nvSpPr>
        <p:spPr/>
        <p:txBody>
          <a:bodyPr>
            <a:normAutofit fontScale="92500" lnSpcReduction="10000"/>
          </a:bodyPr>
          <a:lstStyle/>
          <a:p>
            <a:pPr marL="2571400" lvl="8" indent="0">
              <a:buNone/>
            </a:pPr>
            <a:r>
              <a:rPr lang="en-US" sz="6600" b="1" dirty="0">
                <a:solidFill>
                  <a:schemeClr val="accent1">
                    <a:lumMod val="25000"/>
                    <a:lumOff val="75000"/>
                  </a:schemeClr>
                </a:solidFill>
              </a:rPr>
              <a:t>         </a:t>
            </a:r>
            <a:r>
              <a:rPr lang="en-US" sz="3500" b="1" dirty="0">
                <a:solidFill>
                  <a:schemeClr val="accent1">
                    <a:lumMod val="25000"/>
                    <a:lumOff val="75000"/>
                  </a:schemeClr>
                </a:solidFill>
              </a:rPr>
              <a:t>06/12/2024</a:t>
            </a:r>
            <a:r>
              <a:rPr lang="en-US" sz="6600" b="1" dirty="0">
                <a:solidFill>
                  <a:schemeClr val="accent1">
                    <a:lumMod val="25000"/>
                    <a:lumOff val="75000"/>
                  </a:schemeClr>
                </a:solidFill>
              </a:rPr>
              <a:t>   </a:t>
            </a:r>
          </a:p>
          <a:p>
            <a:pPr marL="2571400" lvl="8" indent="0">
              <a:buNone/>
            </a:pPr>
            <a:r>
              <a:rPr lang="en-US" sz="6600" b="1" dirty="0">
                <a:solidFill>
                  <a:schemeClr val="accent1">
                    <a:lumMod val="25000"/>
                    <a:lumOff val="75000"/>
                  </a:schemeClr>
                </a:solidFill>
              </a:rPr>
              <a:t>    Versionning</a:t>
            </a:r>
          </a:p>
          <a:p>
            <a:pPr marL="2571400" lvl="8" indent="0">
              <a:buNone/>
            </a:pPr>
            <a:r>
              <a:rPr lang="en-US" sz="4000" b="1" dirty="0">
                <a:solidFill>
                  <a:schemeClr val="accent1">
                    <a:lumMod val="25000"/>
                    <a:lumOff val="75000"/>
                  </a:schemeClr>
                </a:solidFill>
              </a:rPr>
              <a:t>Professeur : </a:t>
            </a:r>
            <a:r>
              <a:rPr lang="en-US" sz="3200" b="1" dirty="0">
                <a:solidFill>
                  <a:schemeClr val="accent1">
                    <a:lumMod val="25000"/>
                    <a:lumOff val="75000"/>
                  </a:schemeClr>
                </a:solidFill>
              </a:rPr>
              <a:t>Mr KARA SAMB</a:t>
            </a:r>
          </a:p>
          <a:p>
            <a:pPr marL="2571400" lvl="8" indent="0">
              <a:buNone/>
            </a:pPr>
            <a:r>
              <a:rPr lang="en-US" sz="3200" b="1" dirty="0">
                <a:solidFill>
                  <a:schemeClr val="accent1">
                    <a:lumMod val="25000"/>
                    <a:lumOff val="75000"/>
                  </a:schemeClr>
                </a:solidFill>
              </a:rPr>
              <a:t>           Introduction </a:t>
            </a:r>
            <a:r>
              <a:rPr lang="en-US" sz="3200" b="1" dirty="0" err="1">
                <a:solidFill>
                  <a:schemeClr val="accent1">
                    <a:lumMod val="25000"/>
                    <a:lumOff val="75000"/>
                  </a:schemeClr>
                </a:solidFill>
              </a:rPr>
              <a:t>à</a:t>
            </a:r>
            <a:r>
              <a:rPr lang="en-US" sz="3200" b="1" dirty="0">
                <a:solidFill>
                  <a:schemeClr val="accent1">
                    <a:lumMod val="25000"/>
                    <a:lumOff val="75000"/>
                  </a:schemeClr>
                </a:solidFill>
              </a:rPr>
              <a:t> </a:t>
            </a:r>
            <a:r>
              <a:rPr lang="en-US" sz="3200" b="1" dirty="0" err="1">
                <a:solidFill>
                  <a:schemeClr val="accent1">
                    <a:lumMod val="25000"/>
                    <a:lumOff val="75000"/>
                  </a:schemeClr>
                </a:solidFill>
              </a:rPr>
              <a:t>Git</a:t>
            </a:r>
            <a:endParaRPr lang="en-US" sz="3200" b="1" dirty="0">
              <a:solidFill>
                <a:schemeClr val="accent1">
                  <a:lumMod val="25000"/>
                  <a:lumOff val="75000"/>
                </a:schemeClr>
              </a:solidFill>
            </a:endParaRPr>
          </a:p>
          <a:p>
            <a:pPr marL="2571400" lvl="8" indent="0">
              <a:buNone/>
            </a:pPr>
            <a:r>
              <a:rPr lang="en-US" sz="3600" b="1" dirty="0">
                <a:solidFill>
                  <a:schemeClr val="accent1">
                    <a:lumMod val="25000"/>
                    <a:lumOff val="75000"/>
                  </a:schemeClr>
                </a:solidFill>
              </a:rPr>
              <a:t>               Groupe1:</a:t>
            </a:r>
          </a:p>
        </p:txBody>
      </p:sp>
      <p:sp>
        <p:nvSpPr>
          <p:cNvPr id="11" name="Titre 7">
            <a:extLst>
              <a:ext uri="{FF2B5EF4-FFF2-40B4-BE49-F238E27FC236}">
                <a16:creationId xmlns:a16="http://schemas.microsoft.com/office/drawing/2014/main" id="{74BF9641-E619-BA4C-B05E-6C208BD38FB4}"/>
              </a:ext>
            </a:extLst>
          </p:cNvPr>
          <p:cNvSpPr txBox="1">
            <a:spLocks/>
          </p:cNvSpPr>
          <p:nvPr/>
        </p:nvSpPr>
        <p:spPr>
          <a:xfrm flipH="1">
            <a:off x="8358552" y="5414696"/>
            <a:ext cx="2309447" cy="689514"/>
          </a:xfrm>
          <a:prstGeom prst="rect">
            <a:avLst/>
          </a:prstGeom>
        </p:spPr>
        <p:txBody>
          <a:bodyPr vert="horz" lIns="91440" tIns="45720" rIns="91440" bIns="45720" rtlCol="0" anchor="ctr">
            <a:noAutofit/>
          </a:bodyPr>
          <a:lstStyle>
            <a:lvl1pPr algn="l" defTabSz="457200" rtl="0" eaLnBrk="1" latinLnBrk="0" hangingPunct="1">
              <a:spcBef>
                <a:spcPct val="0"/>
              </a:spcBef>
              <a:buNone/>
              <a:defRPr sz="2000" b="0" kern="1200" cap="all">
                <a:solidFill>
                  <a:schemeClr val="accent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i="1" dirty="0">
                <a:solidFill>
                  <a:schemeClr val="bg1"/>
                </a:solidFill>
              </a:rPr>
              <a:t>SEYDOU DIANKA</a:t>
            </a:r>
            <a:endParaRPr lang="fr-FR" dirty="0">
              <a:solidFill>
                <a:schemeClr val="bg1"/>
              </a:solidFill>
            </a:endParaRPr>
          </a:p>
        </p:txBody>
      </p:sp>
      <p:sp>
        <p:nvSpPr>
          <p:cNvPr id="13" name="Titre 7">
            <a:extLst>
              <a:ext uri="{FF2B5EF4-FFF2-40B4-BE49-F238E27FC236}">
                <a16:creationId xmlns:a16="http://schemas.microsoft.com/office/drawing/2014/main" id="{DEB53A53-3E2B-8649-91A4-F2B8B9E1D5C9}"/>
              </a:ext>
            </a:extLst>
          </p:cNvPr>
          <p:cNvSpPr txBox="1">
            <a:spLocks/>
          </p:cNvSpPr>
          <p:nvPr/>
        </p:nvSpPr>
        <p:spPr>
          <a:xfrm>
            <a:off x="4818185" y="5414696"/>
            <a:ext cx="2743200" cy="68951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000" b="0" kern="1200" cap="all">
                <a:solidFill>
                  <a:schemeClr val="accent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b="1" i="1" dirty="0">
                <a:solidFill>
                  <a:schemeClr val="bg1"/>
                </a:solidFill>
              </a:rPr>
              <a:t>MARIAMA NDIAYE</a:t>
            </a:r>
          </a:p>
        </p:txBody>
      </p:sp>
    </p:spTree>
    <p:extLst>
      <p:ext uri="{BB962C8B-B14F-4D97-AF65-F5344CB8AC3E}">
        <p14:creationId xmlns:p14="http://schemas.microsoft.com/office/powerpoint/2010/main" val="3959484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u="sng" dirty="0"/>
              <a:t>Introduction</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p:txBody>
          <a:bodyPr/>
          <a:lstStyle/>
          <a:p>
            <a:r>
              <a:rPr lang="fr-FR" sz="3200" dirty="0"/>
              <a:t>Le versionnement est essentiel dans le développement logiciel moderne. Il permet de gérer les modifications, de collaborer efficacement et de maintenir la stabilité des projets. Git, en tant que système distribué, représente une avancée majeure, offrant flexibilité et performance pour répondre aux besoins des équipes modernes.</a:t>
            </a:r>
          </a:p>
          <a:p>
            <a:endParaRPr lang="fr-FR" dirty="0"/>
          </a:p>
        </p:txBody>
      </p:sp>
    </p:spTree>
    <p:extLst>
      <p:ext uri="{BB962C8B-B14F-4D97-AF65-F5344CB8AC3E}">
        <p14:creationId xmlns:p14="http://schemas.microsoft.com/office/powerpoint/2010/main" val="3109182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L'importance des systèmes de versionnement dans le développement logiciel</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p:txBody>
          <a:bodyPr/>
          <a:lstStyle/>
          <a:p>
            <a:r>
              <a:rPr lang="fr-FR" sz="3200" dirty="0"/>
              <a:t>Le versionnement, ou </a:t>
            </a:r>
            <a:r>
              <a:rPr lang="fr-FR" sz="3200" b="1" dirty="0"/>
              <a:t>contrôle de version</a:t>
            </a:r>
            <a:r>
              <a:rPr lang="fr-FR" sz="3200" dirty="0"/>
              <a:t>, est un élément fondamental du développement logiciel moderne. Les outils de versionnement, tels que Git, Subversion ou Mercurial, permettent de gérer les modifications apportées au code source d'un projet au fil du temps. Ils offrent une structure pour suivre l'évolution des fichiers, collaborer efficacement en équipe, et garantir la stabilité des livrables.</a:t>
            </a:r>
          </a:p>
          <a:p>
            <a:endParaRPr lang="fr-FR" dirty="0"/>
          </a:p>
        </p:txBody>
      </p:sp>
    </p:spTree>
    <p:extLst>
      <p:ext uri="{BB962C8B-B14F-4D97-AF65-F5344CB8AC3E}">
        <p14:creationId xmlns:p14="http://schemas.microsoft.com/office/powerpoint/2010/main" val="583661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u="sng" dirty="0"/>
              <a:t>Historique des systèmes de versionnement : Une évolution essentielle</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p:txBody>
          <a:bodyPr/>
          <a:lstStyle/>
          <a:p>
            <a:r>
              <a:rPr lang="fr-FR" sz="3200" dirty="0"/>
              <a:t>Le développement logiciel a rapidement évolué, passant de simples projets individuels à des collaborations complexes impliquant des équipes dispersées. Cette transition a rendu nécessaire l’émergence d’outils permettant de gérer efficacement les versions des fichiers et de collaborer sans risque de confusion. Voici un aperçu de l’évolution des systèmes de versionnement.</a:t>
            </a:r>
          </a:p>
          <a:p>
            <a:endParaRPr lang="fr-FR" dirty="0"/>
          </a:p>
        </p:txBody>
      </p:sp>
    </p:spTree>
    <p:extLst>
      <p:ext uri="{BB962C8B-B14F-4D97-AF65-F5344CB8AC3E}">
        <p14:creationId xmlns:p14="http://schemas.microsoft.com/office/powerpoint/2010/main" val="3442159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Les débuts : les systèmes centralisés</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p:txBody>
          <a:bodyPr>
            <a:normAutofit fontScale="25000" lnSpcReduction="20000"/>
          </a:bodyPr>
          <a:lstStyle/>
          <a:p>
            <a:r>
              <a:rPr lang="fr-FR" sz="8000" b="1" dirty="0"/>
              <a:t>CVS (Concurrent Versions System) : 1990</a:t>
            </a:r>
          </a:p>
          <a:p>
            <a:r>
              <a:rPr lang="fr-FR" sz="8000" b="1" dirty="0"/>
              <a:t>Contexte</a:t>
            </a:r>
            <a:r>
              <a:rPr lang="fr-FR" sz="8000" dirty="0"/>
              <a:t> : CVS est l'un des premiers systèmes de contrôle de version largement adoptés. Il a été conçu pour permettre à plusieurs développeurs de travailler simultanément sur les mêmes fichiers.</a:t>
            </a:r>
          </a:p>
          <a:p>
            <a:r>
              <a:rPr lang="fr-FR" sz="8000" b="1" dirty="0"/>
              <a:t>Fonctionnalités clés</a:t>
            </a:r>
            <a:r>
              <a:rPr lang="fr-FR" sz="8000" dirty="0"/>
              <a:t> :</a:t>
            </a:r>
          </a:p>
          <a:p>
            <a:pPr lvl="1"/>
            <a:r>
              <a:rPr lang="fr-FR" sz="8000" dirty="0"/>
              <a:t>Gestion centralisée avec un serveur unique contenant le dépôt principal.</a:t>
            </a:r>
          </a:p>
          <a:p>
            <a:pPr lvl="1"/>
            <a:r>
              <a:rPr lang="fr-FR" sz="8000" dirty="0"/>
              <a:t>Verrouillage des fichiers pour éviter les conflits (parfois rigide).</a:t>
            </a:r>
          </a:p>
          <a:p>
            <a:pPr lvl="1"/>
            <a:r>
              <a:rPr lang="fr-FR" sz="8000" dirty="0"/>
              <a:t>Gestion limitée des branches et des étiquettes (tags).</a:t>
            </a:r>
          </a:p>
          <a:p>
            <a:r>
              <a:rPr lang="fr-FR" sz="8000" b="1" dirty="0"/>
              <a:t>Limites</a:t>
            </a:r>
            <a:r>
              <a:rPr lang="fr-FR" sz="8000" dirty="0"/>
              <a:t> :</a:t>
            </a:r>
          </a:p>
          <a:p>
            <a:pPr lvl="1"/>
            <a:r>
              <a:rPr lang="fr-FR" sz="8000" dirty="0"/>
              <a:t>Problèmes de performances et de fiabilité.</a:t>
            </a:r>
          </a:p>
          <a:p>
            <a:pPr lvl="1"/>
            <a:r>
              <a:rPr lang="fr-FR" sz="8000" dirty="0"/>
              <a:t>Faible gestion des conflits dans les environnements de collaboration intensive.</a:t>
            </a:r>
          </a:p>
          <a:p>
            <a:endParaRPr lang="fr-FR" dirty="0"/>
          </a:p>
        </p:txBody>
      </p:sp>
    </p:spTree>
    <p:extLst>
      <p:ext uri="{BB962C8B-B14F-4D97-AF65-F5344CB8AC3E}">
        <p14:creationId xmlns:p14="http://schemas.microsoft.com/office/powerpoint/2010/main" val="3354740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L'avènement des systèmes décentralisés</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p:txBody>
          <a:bodyPr>
            <a:normAutofit/>
          </a:bodyPr>
          <a:lstStyle/>
          <a:p>
            <a:r>
              <a:rPr lang="fr-FR" sz="3200" dirty="0"/>
              <a:t>Avec la montée des projets open-source et des équipes géographiquement dispersées, les limitations des systèmes centralisés sont devenues évidentes. Les développeurs avaient besoin d’un modèle plus flexible : c’est ainsi qu’est apparu le </a:t>
            </a:r>
            <a:r>
              <a:rPr lang="fr-FR" sz="3200" b="1" dirty="0"/>
              <a:t>contrôle de version distribué (DVCS)</a:t>
            </a:r>
            <a:r>
              <a:rPr lang="fr-FR" sz="3200" dirty="0"/>
              <a:t>.</a:t>
            </a:r>
          </a:p>
          <a:p>
            <a:endParaRPr lang="fr-FR" dirty="0"/>
          </a:p>
        </p:txBody>
      </p:sp>
    </p:spTree>
    <p:extLst>
      <p:ext uri="{BB962C8B-B14F-4D97-AF65-F5344CB8AC3E}">
        <p14:creationId xmlns:p14="http://schemas.microsoft.com/office/powerpoint/2010/main" val="55925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L'avènement des systèmes décentralisés</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p:txBody>
          <a:bodyPr>
            <a:normAutofit fontScale="70000" lnSpcReduction="20000"/>
          </a:bodyPr>
          <a:lstStyle/>
          <a:p>
            <a:r>
              <a:rPr lang="fr-FR" sz="3200" b="1" dirty="0" err="1"/>
              <a:t>BitKeeper</a:t>
            </a:r>
            <a:r>
              <a:rPr lang="fr-FR" sz="3200" b="1" dirty="0"/>
              <a:t> : années 2000</a:t>
            </a:r>
          </a:p>
          <a:p>
            <a:r>
              <a:rPr lang="fr-FR" sz="3200" b="1" dirty="0"/>
              <a:t>Contexte</a:t>
            </a:r>
            <a:r>
              <a:rPr lang="fr-FR" sz="3200" dirty="0"/>
              <a:t> : Un des premiers DVCS, utilisé initialement pour le développement du noyau Linux.</a:t>
            </a:r>
          </a:p>
          <a:p>
            <a:r>
              <a:rPr lang="fr-FR" sz="3200" b="1" dirty="0"/>
              <a:t>Limite majeure</a:t>
            </a:r>
            <a:r>
              <a:rPr lang="fr-FR" sz="3200" dirty="0"/>
              <a:t> : Propriétaire, ce qui a conduit à des tensions dans les communautés open-source.</a:t>
            </a:r>
          </a:p>
          <a:p>
            <a:r>
              <a:rPr lang="fr-FR" sz="3200" b="1" dirty="0"/>
              <a:t>Création de Git : 2005</a:t>
            </a:r>
          </a:p>
          <a:p>
            <a:r>
              <a:rPr lang="fr-FR" sz="3200" b="1" dirty="0"/>
              <a:t>Pourquoi ?</a:t>
            </a:r>
            <a:r>
              <a:rPr lang="fr-FR" sz="3200" dirty="0"/>
              <a:t> : En 2005, le noyau Linux cesse d’utiliser </a:t>
            </a:r>
            <a:r>
              <a:rPr lang="fr-FR" sz="3200" dirty="0" err="1"/>
              <a:t>BitKeeper</a:t>
            </a:r>
            <a:r>
              <a:rPr lang="fr-FR" sz="3200" dirty="0"/>
              <a:t> en raison de désaccords concernant sa licence propriétaire. Linus </a:t>
            </a:r>
            <a:r>
              <a:rPr lang="fr-FR" sz="3200" dirty="0" err="1"/>
              <a:t>Torvalds</a:t>
            </a:r>
            <a:r>
              <a:rPr lang="fr-FR" sz="3200" dirty="0"/>
              <a:t> décide alors de créer un système de contrôle de version distribué libre, rapide et sécurisé, adapté aux besoins de la communauté open-source.</a:t>
            </a:r>
          </a:p>
          <a:p>
            <a:endParaRPr lang="fr-FR" dirty="0"/>
          </a:p>
        </p:txBody>
      </p:sp>
    </p:spTree>
    <p:extLst>
      <p:ext uri="{BB962C8B-B14F-4D97-AF65-F5344CB8AC3E}">
        <p14:creationId xmlns:p14="http://schemas.microsoft.com/office/powerpoint/2010/main" val="3413965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Tableau évolutif</a:t>
            </a:r>
            <a:endParaRPr lang="fr-FR" dirty="0"/>
          </a:p>
        </p:txBody>
      </p:sp>
      <p:graphicFrame>
        <p:nvGraphicFramePr>
          <p:cNvPr id="2" name="Espace réservé du contenu 1">
            <a:extLst>
              <a:ext uri="{FF2B5EF4-FFF2-40B4-BE49-F238E27FC236}">
                <a16:creationId xmlns:a16="http://schemas.microsoft.com/office/drawing/2014/main" id="{DDF3FE6F-27BC-064E-A52E-0A858AC116C8}"/>
              </a:ext>
            </a:extLst>
          </p:cNvPr>
          <p:cNvGraphicFramePr>
            <a:graphicFrameLocks noGrp="1"/>
          </p:cNvGraphicFramePr>
          <p:nvPr>
            <p:ph idx="1"/>
            <p:extLst>
              <p:ext uri="{D42A27DB-BD31-4B8C-83A1-F6EECF244321}">
                <p14:modId xmlns:p14="http://schemas.microsoft.com/office/powerpoint/2010/main" val="2648346883"/>
              </p:ext>
            </p:extLst>
          </p:nvPr>
        </p:nvGraphicFramePr>
        <p:xfrm>
          <a:off x="581025" y="2181225"/>
          <a:ext cx="11029952" cy="2834640"/>
        </p:xfrm>
        <a:graphic>
          <a:graphicData uri="http://schemas.openxmlformats.org/drawingml/2006/table">
            <a:tbl>
              <a:tblPr firstRow="1" bandRow="1">
                <a:tableStyleId>{5C22544A-7EE6-4342-B048-85BDC9FD1C3A}</a:tableStyleId>
              </a:tblPr>
              <a:tblGrid>
                <a:gridCol w="2757488">
                  <a:extLst>
                    <a:ext uri="{9D8B030D-6E8A-4147-A177-3AD203B41FA5}">
                      <a16:colId xmlns:a16="http://schemas.microsoft.com/office/drawing/2014/main" val="2987654521"/>
                    </a:ext>
                  </a:extLst>
                </a:gridCol>
                <a:gridCol w="2757488">
                  <a:extLst>
                    <a:ext uri="{9D8B030D-6E8A-4147-A177-3AD203B41FA5}">
                      <a16:colId xmlns:a16="http://schemas.microsoft.com/office/drawing/2014/main" val="703933250"/>
                    </a:ext>
                  </a:extLst>
                </a:gridCol>
                <a:gridCol w="2757488">
                  <a:extLst>
                    <a:ext uri="{9D8B030D-6E8A-4147-A177-3AD203B41FA5}">
                      <a16:colId xmlns:a16="http://schemas.microsoft.com/office/drawing/2014/main" val="2637852734"/>
                    </a:ext>
                  </a:extLst>
                </a:gridCol>
                <a:gridCol w="2757488">
                  <a:extLst>
                    <a:ext uri="{9D8B030D-6E8A-4147-A177-3AD203B41FA5}">
                      <a16:colId xmlns:a16="http://schemas.microsoft.com/office/drawing/2014/main" val="2211236366"/>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b="1" dirty="0">
                          <a:effectLst/>
                        </a:rPr>
                        <a:t>Année</a:t>
                      </a:r>
                    </a:p>
                  </a:txBody>
                  <a:tcPr/>
                </a:tc>
                <a:tc>
                  <a:txBody>
                    <a:bodyPr/>
                    <a:lstStyle/>
                    <a:p>
                      <a:r>
                        <a:rPr lang="fr-FR" sz="1800" b="1" dirty="0">
                          <a:effectLst/>
                        </a:rPr>
                        <a:t>Système</a:t>
                      </a:r>
                      <a:endParaRPr lang="fr-FR" dirty="0"/>
                    </a:p>
                  </a:txBody>
                  <a:tcPr/>
                </a:tc>
                <a:tc>
                  <a:txBody>
                    <a:bodyPr/>
                    <a:lstStyle/>
                    <a:p>
                      <a:r>
                        <a:rPr lang="fr-FR" sz="1800" b="1" dirty="0">
                          <a:effectLst/>
                        </a:rPr>
                        <a:t>Type</a:t>
                      </a:r>
                      <a:endParaRPr lang="fr-FR"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b="1" dirty="0">
                          <a:effectLst/>
                        </a:rPr>
                        <a:t>Caractéristiques principales</a:t>
                      </a:r>
                    </a:p>
                    <a:p>
                      <a:endParaRPr lang="fr-FR" dirty="0"/>
                    </a:p>
                  </a:txBody>
                  <a:tcPr/>
                </a:tc>
                <a:extLst>
                  <a:ext uri="{0D108BD9-81ED-4DB2-BD59-A6C34878D82A}">
                    <a16:rowId xmlns:a16="http://schemas.microsoft.com/office/drawing/2014/main" val="288972326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dirty="0">
                          <a:effectLst/>
                        </a:rPr>
                        <a:t>1990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dirty="0">
                          <a:effectLst/>
                        </a:rPr>
                        <a:t>CVS</a:t>
                      </a:r>
                    </a:p>
                  </a:txBody>
                  <a:tcPr/>
                </a:tc>
                <a:tc>
                  <a:txBody>
                    <a:bodyPr/>
                    <a:lstStyle/>
                    <a:p>
                      <a:r>
                        <a:rPr lang="fr-FR" sz="1800" dirty="0">
                          <a:effectLst/>
                        </a:rPr>
                        <a:t>Centralisé</a:t>
                      </a:r>
                      <a:endParaRPr lang="fr-FR"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dirty="0">
                          <a:effectLst/>
                        </a:rPr>
                        <a:t>Premier système populaire ; limité.</a:t>
                      </a:r>
                    </a:p>
                  </a:txBody>
                  <a:tcPr/>
                </a:tc>
                <a:extLst>
                  <a:ext uri="{0D108BD9-81ED-4DB2-BD59-A6C34878D82A}">
                    <a16:rowId xmlns:a16="http://schemas.microsoft.com/office/drawing/2014/main" val="391404338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dirty="0">
                          <a:effectLst/>
                        </a:rPr>
                        <a:t>2000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dirty="0">
                          <a:effectLst/>
                        </a:rPr>
                        <a:t>Subversion (SVN)</a:t>
                      </a:r>
                    </a:p>
                  </a:txBody>
                  <a:tcPr/>
                </a:tc>
                <a:tc>
                  <a:txBody>
                    <a:bodyPr/>
                    <a:lstStyle/>
                    <a:p>
                      <a:r>
                        <a:rPr lang="fr-FR" sz="1800" dirty="0">
                          <a:effectLst/>
                        </a:rPr>
                        <a:t>Centralisé</a:t>
                      </a:r>
                      <a:endParaRPr lang="fr-FR"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dirty="0">
                          <a:effectLst/>
                        </a:rPr>
                        <a:t>Atomicité des commits, meilleures branches.</a:t>
                      </a:r>
                    </a:p>
                  </a:txBody>
                  <a:tcPr/>
                </a:tc>
                <a:extLst>
                  <a:ext uri="{0D108BD9-81ED-4DB2-BD59-A6C34878D82A}">
                    <a16:rowId xmlns:a16="http://schemas.microsoft.com/office/drawing/2014/main" val="2322075684"/>
                  </a:ext>
                </a:extLst>
              </a:tr>
              <a:tr h="370840">
                <a:tc>
                  <a:txBody>
                    <a:bodyPr/>
                    <a:lstStyle/>
                    <a:p>
                      <a:r>
                        <a:rPr lang="fr-FR" sz="1800" dirty="0">
                          <a:effectLst/>
                        </a:rPr>
                        <a:t>2005</a:t>
                      </a:r>
                      <a:endParaRPr lang="fr-FR" dirty="0"/>
                    </a:p>
                  </a:txBody>
                  <a:tcPr/>
                </a:tc>
                <a:tc>
                  <a:txBody>
                    <a:bodyPr/>
                    <a:lstStyle/>
                    <a:p>
                      <a:r>
                        <a:rPr lang="fr-FR" sz="1800" dirty="0">
                          <a:effectLst/>
                        </a:rPr>
                        <a:t>Git</a:t>
                      </a:r>
                      <a:endParaRPr lang="fr-FR" dirty="0"/>
                    </a:p>
                  </a:txBody>
                  <a:tcPr/>
                </a:tc>
                <a:tc>
                  <a:txBody>
                    <a:bodyPr/>
                    <a:lstStyle/>
                    <a:p>
                      <a:r>
                        <a:rPr lang="fr-FR" sz="1800" dirty="0">
                          <a:effectLst/>
                        </a:rPr>
                        <a:t>Distribué</a:t>
                      </a:r>
                      <a:endParaRPr lang="fr-FR"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dirty="0">
                          <a:effectLst/>
                        </a:rPr>
                        <a:t>Rapide, sécurisé, collaboratif.</a:t>
                      </a:r>
                    </a:p>
                  </a:txBody>
                  <a:tcPr/>
                </a:tc>
                <a:extLst>
                  <a:ext uri="{0D108BD9-81ED-4DB2-BD59-A6C34878D82A}">
                    <a16:rowId xmlns:a16="http://schemas.microsoft.com/office/drawing/2014/main" val="862449441"/>
                  </a:ext>
                </a:extLst>
              </a:tr>
            </a:tbl>
          </a:graphicData>
        </a:graphic>
      </p:graphicFrame>
    </p:spTree>
    <p:extLst>
      <p:ext uri="{BB962C8B-B14F-4D97-AF65-F5344CB8AC3E}">
        <p14:creationId xmlns:p14="http://schemas.microsoft.com/office/powerpoint/2010/main" val="2765051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Concepts Fondamentaux de Git</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p:txBody>
          <a:bodyPr>
            <a:normAutofit/>
          </a:bodyPr>
          <a:lstStyle/>
          <a:p>
            <a:r>
              <a:rPr lang="fr-FR" sz="3200" dirty="0"/>
              <a:t>Git est un système de contrôle de version distribué conçu pour suivre les modifications dans un projet, collaborer efficacement et garantir la sécurité du code. Sa structure repose sur plusieurs concepts clés qui en font un outil puissant et flexible.</a:t>
            </a:r>
          </a:p>
          <a:p>
            <a:endParaRPr lang="fr-FR" dirty="0"/>
          </a:p>
        </p:txBody>
      </p:sp>
    </p:spTree>
    <p:extLst>
      <p:ext uri="{BB962C8B-B14F-4D97-AF65-F5344CB8AC3E}">
        <p14:creationId xmlns:p14="http://schemas.microsoft.com/office/powerpoint/2010/main" val="3688692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Dépôt (Repository)</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3903781"/>
          </a:xfrm>
        </p:spPr>
        <p:txBody>
          <a:bodyPr>
            <a:noAutofit/>
          </a:bodyPr>
          <a:lstStyle/>
          <a:p>
            <a:r>
              <a:rPr lang="fr-FR" sz="2400" dirty="0"/>
              <a:t>Un dépôt Git est l’endroit où tout le projet est stocké. Il contient :</a:t>
            </a:r>
          </a:p>
          <a:p>
            <a:r>
              <a:rPr lang="fr-FR" sz="2400" b="1" dirty="0"/>
              <a:t>Les fichiers du projet</a:t>
            </a:r>
            <a:r>
              <a:rPr lang="fr-FR" sz="2400" dirty="0"/>
              <a:t> (code, ressources, documentation, etc.).</a:t>
            </a:r>
          </a:p>
          <a:p>
            <a:r>
              <a:rPr lang="fr-FR" sz="2400" b="1" dirty="0"/>
              <a:t>L’historique complet des modifications</a:t>
            </a:r>
            <a:r>
              <a:rPr lang="fr-FR" sz="2400" dirty="0"/>
              <a:t> sous forme de commits.</a:t>
            </a:r>
          </a:p>
          <a:p>
            <a:r>
              <a:rPr lang="fr-FR" sz="2400" b="1" dirty="0"/>
              <a:t>Une structure distribuée</a:t>
            </a:r>
            <a:r>
              <a:rPr lang="fr-FR" sz="2400" dirty="0"/>
              <a:t> : chaque développeur a une copie complète du dépôt.</a:t>
            </a:r>
          </a:p>
          <a:p>
            <a:r>
              <a:rPr lang="fr-FR" sz="2400" b="1" dirty="0"/>
              <a:t>Types de dépôts :</a:t>
            </a:r>
          </a:p>
          <a:p>
            <a:r>
              <a:rPr lang="fr-FR" sz="2400" b="1" dirty="0"/>
              <a:t>Dépôt local</a:t>
            </a:r>
            <a:r>
              <a:rPr lang="fr-FR" sz="2400" dirty="0"/>
              <a:t> : sur la machine d’un développeur.</a:t>
            </a:r>
          </a:p>
          <a:p>
            <a:r>
              <a:rPr lang="fr-FR" sz="2400" b="1" dirty="0"/>
              <a:t>Dépôt distant</a:t>
            </a:r>
            <a:r>
              <a:rPr lang="fr-FR" sz="2400" dirty="0"/>
              <a:t> : hébergé sur une plateforme (GitHub, </a:t>
            </a:r>
            <a:r>
              <a:rPr lang="fr-FR" sz="2400" dirty="0" err="1"/>
              <a:t>GitLab</a:t>
            </a:r>
            <a:r>
              <a:rPr lang="fr-FR" sz="2400" dirty="0"/>
              <a:t>, etc.) pour le partage et la collaboration.</a:t>
            </a:r>
          </a:p>
        </p:txBody>
      </p:sp>
    </p:spTree>
    <p:extLst>
      <p:ext uri="{BB962C8B-B14F-4D97-AF65-F5344CB8AC3E}">
        <p14:creationId xmlns:p14="http://schemas.microsoft.com/office/powerpoint/2010/main" val="1280156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Stockage des données dans Git</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3903781"/>
          </a:xfrm>
        </p:spPr>
        <p:txBody>
          <a:bodyPr>
            <a:noAutofit/>
          </a:bodyPr>
          <a:lstStyle/>
          <a:p>
            <a:r>
              <a:rPr lang="fr-FR" sz="3200" dirty="0"/>
              <a:t>Git utilise une approche unique et efficace pour stocker les données, basée sur des objets immuables identifiés par des </a:t>
            </a:r>
            <a:r>
              <a:rPr lang="fr-FR" sz="3200" b="1" dirty="0"/>
              <a:t>hashs cryptographiques</a:t>
            </a:r>
            <a:r>
              <a:rPr lang="fr-FR" sz="3200" dirty="0"/>
              <a:t> (SHA-1 ou SHA-256 dans les versions récentes). Cette structure garantit la </a:t>
            </a:r>
            <a:r>
              <a:rPr lang="fr-FR" sz="3200" b="1" dirty="0"/>
              <a:t>traçabilité</a:t>
            </a:r>
            <a:r>
              <a:rPr lang="fr-FR" sz="3200" dirty="0"/>
              <a:t>, la </a:t>
            </a:r>
            <a:r>
              <a:rPr lang="fr-FR" sz="3200" b="1" dirty="0"/>
              <a:t>sécurité</a:t>
            </a:r>
            <a:r>
              <a:rPr lang="fr-FR" sz="3200" dirty="0"/>
              <a:t>, et l’</a:t>
            </a:r>
            <a:r>
              <a:rPr lang="fr-FR" sz="3200" b="1" dirty="0"/>
              <a:t>efficacité</a:t>
            </a:r>
            <a:r>
              <a:rPr lang="fr-FR" sz="3200" dirty="0"/>
              <a:t> dans la gestion des modifications.</a:t>
            </a:r>
          </a:p>
          <a:p>
            <a:endParaRPr lang="fr-FR" sz="2400" dirty="0"/>
          </a:p>
        </p:txBody>
      </p:sp>
    </p:spTree>
    <p:extLst>
      <p:ext uri="{BB962C8B-B14F-4D97-AF65-F5344CB8AC3E}">
        <p14:creationId xmlns:p14="http://schemas.microsoft.com/office/powerpoint/2010/main" val="2885765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Objets Git</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3903781"/>
          </a:xfrm>
        </p:spPr>
        <p:txBody>
          <a:bodyPr>
            <a:noAutofit/>
          </a:bodyPr>
          <a:lstStyle/>
          <a:p>
            <a:pPr marL="0" lvl="0" indent="0" defTabSz="914400" eaLnBrk="0" fontAlgn="base" hangingPunct="0">
              <a:spcBef>
                <a:spcPct val="0"/>
              </a:spcBef>
              <a:spcAft>
                <a:spcPct val="0"/>
              </a:spcAft>
              <a:buClrTx/>
              <a:buSzTx/>
              <a:buNone/>
            </a:pPr>
            <a:endParaRPr lang="fr-FR" sz="2400" dirty="0">
              <a:solidFill>
                <a:srgbClr val="0D0D0D"/>
              </a:solidFill>
              <a:latin typeface="ui-sans-serif"/>
            </a:endParaRPr>
          </a:p>
          <a:p>
            <a:pPr marL="0" lvl="0" indent="0" defTabSz="914400" eaLnBrk="0" fontAlgn="base" hangingPunct="0">
              <a:spcBef>
                <a:spcPct val="0"/>
              </a:spcBef>
              <a:spcAft>
                <a:spcPct val="0"/>
              </a:spcAft>
              <a:buClrTx/>
              <a:buSzTx/>
              <a:buNone/>
            </a:pPr>
            <a:r>
              <a:rPr lang="fr-FR" sz="2400" dirty="0">
                <a:solidFill>
                  <a:srgbClr val="0D0D0D"/>
                </a:solidFill>
                <a:latin typeface="ui-sans-serif"/>
              </a:rPr>
              <a:t>Le stockage des données dans Git repose sur quatre types d’</a:t>
            </a:r>
            <a:r>
              <a:rPr lang="fr-FR" sz="2400" b="1" dirty="0">
                <a:solidFill>
                  <a:srgbClr val="0D0D0D"/>
                </a:solidFill>
                <a:latin typeface="ui-sans-serif"/>
              </a:rPr>
              <a:t>objets</a:t>
            </a:r>
            <a:r>
              <a:rPr lang="fr-FR" sz="2400" dirty="0">
                <a:solidFill>
                  <a:srgbClr val="0D0D0D"/>
                </a:solidFill>
                <a:latin typeface="ui-sans-serif"/>
              </a:rPr>
              <a:t> fondamentaux :</a:t>
            </a:r>
            <a:endParaRPr lang="fr-FR" sz="2400" dirty="0">
              <a:solidFill>
                <a:schemeClr val="tx1"/>
              </a:solidFill>
            </a:endParaRPr>
          </a:p>
          <a:p>
            <a:pPr marL="0" lvl="0" indent="0" defTabSz="914400" eaLnBrk="0" fontAlgn="base" hangingPunct="0">
              <a:spcBef>
                <a:spcPct val="0"/>
              </a:spcBef>
              <a:spcAft>
                <a:spcPct val="0"/>
              </a:spcAft>
              <a:buClrTx/>
              <a:buSzTx/>
              <a:buFontTx/>
              <a:buChar char="•"/>
            </a:pPr>
            <a:r>
              <a:rPr lang="fr-FR" sz="2400" b="1" dirty="0">
                <a:solidFill>
                  <a:srgbClr val="0D0D0D"/>
                </a:solidFill>
                <a:latin typeface="ui-sans-serif"/>
              </a:rPr>
              <a:t>Blobs</a:t>
            </a:r>
            <a:r>
              <a:rPr lang="fr-FR" sz="2400" dirty="0">
                <a:solidFill>
                  <a:srgbClr val="0D0D0D"/>
                </a:solidFill>
                <a:latin typeface="ui-sans-serif"/>
              </a:rPr>
              <a:t> : Stockent le contenu brut des fichiers.</a:t>
            </a:r>
          </a:p>
          <a:p>
            <a:pPr marL="0" lvl="0" indent="0" defTabSz="914400" eaLnBrk="0" fontAlgn="base" hangingPunct="0">
              <a:spcBef>
                <a:spcPct val="0"/>
              </a:spcBef>
              <a:spcAft>
                <a:spcPct val="0"/>
              </a:spcAft>
              <a:buClrTx/>
              <a:buSzTx/>
              <a:buFontTx/>
              <a:buChar char="•"/>
            </a:pPr>
            <a:r>
              <a:rPr lang="fr-FR" sz="2400" b="1" dirty="0" err="1">
                <a:solidFill>
                  <a:srgbClr val="0D0D0D"/>
                </a:solidFill>
                <a:latin typeface="ui-sans-serif"/>
              </a:rPr>
              <a:t>Trees</a:t>
            </a:r>
            <a:r>
              <a:rPr lang="fr-FR" sz="2400" b="1" dirty="0">
                <a:solidFill>
                  <a:srgbClr val="0D0D0D"/>
                </a:solidFill>
                <a:latin typeface="ui-sans-serif"/>
              </a:rPr>
              <a:t> (arbres)</a:t>
            </a:r>
            <a:r>
              <a:rPr lang="fr-FR" sz="2400" dirty="0">
                <a:solidFill>
                  <a:srgbClr val="0D0D0D"/>
                </a:solidFill>
                <a:latin typeface="ui-sans-serif"/>
              </a:rPr>
              <a:t> : Représentent la structure des répertoires et leur contenu.</a:t>
            </a:r>
          </a:p>
          <a:p>
            <a:pPr marL="0" lvl="0" indent="0" defTabSz="914400" eaLnBrk="0" fontAlgn="base" hangingPunct="0">
              <a:spcBef>
                <a:spcPct val="0"/>
              </a:spcBef>
              <a:spcAft>
                <a:spcPct val="0"/>
              </a:spcAft>
              <a:buClrTx/>
              <a:buSzTx/>
              <a:buFontTx/>
              <a:buChar char="•"/>
            </a:pPr>
            <a:r>
              <a:rPr lang="fr-FR" sz="2400" b="1" dirty="0">
                <a:solidFill>
                  <a:srgbClr val="0D0D0D"/>
                </a:solidFill>
                <a:latin typeface="ui-sans-serif"/>
              </a:rPr>
              <a:t>Commits</a:t>
            </a:r>
            <a:r>
              <a:rPr lang="fr-FR" sz="2400" dirty="0">
                <a:solidFill>
                  <a:srgbClr val="0D0D0D"/>
                </a:solidFill>
                <a:latin typeface="ui-sans-serif"/>
              </a:rPr>
              <a:t> : Capturent l’état du projet à un instant donné.</a:t>
            </a:r>
          </a:p>
          <a:p>
            <a:pPr marL="0" lvl="0" indent="0" defTabSz="914400" eaLnBrk="0" fontAlgn="base" hangingPunct="0">
              <a:spcBef>
                <a:spcPct val="0"/>
              </a:spcBef>
              <a:spcAft>
                <a:spcPct val="0"/>
              </a:spcAft>
              <a:buClrTx/>
              <a:buSzTx/>
              <a:buFontTx/>
              <a:buChar char="•"/>
            </a:pPr>
            <a:r>
              <a:rPr lang="fr-FR" sz="2400" b="1" dirty="0">
                <a:solidFill>
                  <a:srgbClr val="0D0D0D"/>
                </a:solidFill>
                <a:latin typeface="ui-sans-serif"/>
              </a:rPr>
              <a:t>Tags</a:t>
            </a:r>
            <a:r>
              <a:rPr lang="fr-FR" sz="2400" dirty="0">
                <a:solidFill>
                  <a:srgbClr val="0D0D0D"/>
                </a:solidFill>
                <a:latin typeface="ui-sans-serif"/>
              </a:rPr>
              <a:t> : Fournissent des références fixes aux commits importants (versions, releases).</a:t>
            </a:r>
          </a:p>
          <a:p>
            <a:pPr marL="0" lvl="0" indent="0" defTabSz="914400" eaLnBrk="0" fontAlgn="base" hangingPunct="0">
              <a:spcBef>
                <a:spcPct val="0"/>
              </a:spcBef>
              <a:spcAft>
                <a:spcPct val="0"/>
              </a:spcAft>
              <a:buClrTx/>
              <a:buSzTx/>
              <a:buNone/>
            </a:pPr>
            <a:endParaRPr lang="fr-FR" sz="2400" b="1" dirty="0">
              <a:solidFill>
                <a:srgbClr val="0D0D0D"/>
              </a:solidFill>
              <a:latin typeface="ui-sans-serif"/>
            </a:endParaRPr>
          </a:p>
          <a:p>
            <a:pPr marL="0" lvl="0" indent="0" defTabSz="914400" eaLnBrk="0" fontAlgn="base" hangingPunct="0">
              <a:spcBef>
                <a:spcPct val="0"/>
              </a:spcBef>
              <a:spcAft>
                <a:spcPct val="0"/>
              </a:spcAft>
              <a:buClrTx/>
              <a:buSzTx/>
              <a:buNone/>
            </a:pPr>
            <a:r>
              <a:rPr lang="fr-FR" sz="2400" b="1" dirty="0">
                <a:solidFill>
                  <a:srgbClr val="0D0D0D"/>
                </a:solidFill>
                <a:latin typeface="ui-sans-serif"/>
              </a:rPr>
              <a:t>Caractéristiques communes des objets :</a:t>
            </a:r>
          </a:p>
          <a:p>
            <a:pPr marL="0" lvl="0" indent="0" defTabSz="914400" eaLnBrk="0" fontAlgn="base" hangingPunct="0">
              <a:spcBef>
                <a:spcPct val="0"/>
              </a:spcBef>
              <a:spcAft>
                <a:spcPct val="0"/>
              </a:spcAft>
              <a:buClrTx/>
              <a:buSzTx/>
              <a:buFontTx/>
              <a:buChar char="•"/>
            </a:pPr>
            <a:r>
              <a:rPr lang="fr-FR" sz="2400" dirty="0">
                <a:solidFill>
                  <a:srgbClr val="0D0D0D"/>
                </a:solidFill>
                <a:latin typeface="ui-sans-serif"/>
              </a:rPr>
              <a:t>Chaque objet est identifié par un </a:t>
            </a:r>
            <a:r>
              <a:rPr lang="fr-FR" sz="2400" b="1" dirty="0">
                <a:solidFill>
                  <a:srgbClr val="0D0D0D"/>
                </a:solidFill>
                <a:latin typeface="ui-sans-serif"/>
              </a:rPr>
              <a:t>hash unique</a:t>
            </a:r>
            <a:r>
              <a:rPr lang="fr-FR" sz="2400" dirty="0">
                <a:solidFill>
                  <a:srgbClr val="0D0D0D"/>
                </a:solidFill>
                <a:latin typeface="ui-sans-serif"/>
              </a:rPr>
              <a:t> (SHA).</a:t>
            </a:r>
          </a:p>
          <a:p>
            <a:pPr marL="0" lvl="0" indent="0" defTabSz="914400" eaLnBrk="0" fontAlgn="base" hangingPunct="0">
              <a:spcBef>
                <a:spcPct val="0"/>
              </a:spcBef>
              <a:spcAft>
                <a:spcPct val="0"/>
              </a:spcAft>
              <a:buClrTx/>
              <a:buSzTx/>
              <a:buFontTx/>
              <a:buChar char="•"/>
            </a:pPr>
            <a:r>
              <a:rPr lang="fr-FR" sz="2400" dirty="0">
                <a:solidFill>
                  <a:srgbClr val="0D0D0D"/>
                </a:solidFill>
                <a:latin typeface="ui-sans-serif"/>
              </a:rPr>
              <a:t>Les objets sont immuables : une modification génère un nouvel objet.</a:t>
            </a:r>
          </a:p>
          <a:p>
            <a:pPr marL="0" lvl="0" indent="0" defTabSz="914400" eaLnBrk="0" fontAlgn="base" hangingPunct="0">
              <a:spcBef>
                <a:spcPct val="0"/>
              </a:spcBef>
              <a:spcAft>
                <a:spcPct val="0"/>
              </a:spcAft>
              <a:buClrTx/>
              <a:buSzTx/>
              <a:buFontTx/>
              <a:buChar char="•"/>
            </a:pPr>
            <a:r>
              <a:rPr lang="fr-FR" sz="2400" dirty="0">
                <a:solidFill>
                  <a:srgbClr val="0D0D0D"/>
                </a:solidFill>
                <a:latin typeface="ui-sans-serif"/>
              </a:rPr>
              <a:t>Les objets sont stockés dans le dossier </a:t>
            </a:r>
            <a:r>
              <a:rPr lang="fr-FR" sz="2400" dirty="0">
                <a:solidFill>
                  <a:srgbClr val="0D0D0D"/>
                </a:solidFill>
                <a:latin typeface="ui-monospace"/>
              </a:rPr>
              <a:t>.git/</a:t>
            </a:r>
            <a:r>
              <a:rPr lang="fr-FR" sz="2400" dirty="0" err="1">
                <a:solidFill>
                  <a:srgbClr val="0D0D0D"/>
                </a:solidFill>
                <a:latin typeface="ui-monospace"/>
              </a:rPr>
              <a:t>objects</a:t>
            </a:r>
            <a:r>
              <a:rPr lang="fr-FR" sz="2400" dirty="0">
                <a:solidFill>
                  <a:srgbClr val="0D0D0D"/>
                </a:solidFill>
                <a:latin typeface="ui-sans-serif"/>
              </a:rPr>
              <a:t>.</a:t>
            </a:r>
          </a:p>
          <a:p>
            <a:endParaRPr lang="fr-FR" sz="2400" dirty="0"/>
          </a:p>
        </p:txBody>
      </p:sp>
    </p:spTree>
    <p:extLst>
      <p:ext uri="{BB962C8B-B14F-4D97-AF65-F5344CB8AC3E}">
        <p14:creationId xmlns:p14="http://schemas.microsoft.com/office/powerpoint/2010/main" val="3528527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Avantages de Git - Travail Local</a:t>
            </a:r>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3903781"/>
          </a:xfrm>
        </p:spPr>
        <p:txBody>
          <a:bodyPr>
            <a:noAutofit/>
          </a:bodyPr>
          <a:lstStyle/>
          <a:p>
            <a:pPr marL="0" indent="0">
              <a:buNone/>
            </a:pPr>
            <a:r>
              <a:rPr lang="fr-FR" sz="2400" dirty="0">
                <a:solidFill>
                  <a:srgbClr val="0D0D0D"/>
                </a:solidFill>
                <a:latin typeface="ui-sans-serif"/>
              </a:rPr>
              <a:t> </a:t>
            </a:r>
            <a:r>
              <a:rPr lang="fr-FR" sz="2400" b="1" dirty="0"/>
              <a:t>Développement hors ligne</a:t>
            </a:r>
            <a:endParaRPr lang="fr-FR" sz="2400" dirty="0"/>
          </a:p>
          <a:p>
            <a:r>
              <a:rPr lang="fr-FR" sz="2400" dirty="0"/>
              <a:t>Git fonctionne localement sur votre machine.</a:t>
            </a:r>
          </a:p>
          <a:p>
            <a:r>
              <a:rPr lang="fr-FR" sz="2400" dirty="0"/>
              <a:t>Pas besoin de connexion Internet pour travailler.</a:t>
            </a:r>
          </a:p>
          <a:p>
            <a:pPr marL="0" indent="0">
              <a:buNone/>
            </a:pPr>
            <a:r>
              <a:rPr lang="fr-FR" sz="2400" b="1" dirty="0"/>
              <a:t>Historique complet</a:t>
            </a:r>
            <a:endParaRPr lang="fr-FR" sz="2400" dirty="0"/>
          </a:p>
          <a:p>
            <a:r>
              <a:rPr lang="fr-FR" sz="2400" dirty="0"/>
              <a:t>Tous les changements sont sauvegardés localement.</a:t>
            </a:r>
          </a:p>
          <a:p>
            <a:r>
              <a:rPr lang="fr-FR" sz="2400" dirty="0"/>
              <a:t>Permet de revenir à une version précédente facilement.</a:t>
            </a:r>
          </a:p>
          <a:p>
            <a:endParaRPr lang="fr-FR" sz="2400" dirty="0"/>
          </a:p>
        </p:txBody>
      </p:sp>
    </p:spTree>
    <p:extLst>
      <p:ext uri="{BB962C8B-B14F-4D97-AF65-F5344CB8AC3E}">
        <p14:creationId xmlns:p14="http://schemas.microsoft.com/office/powerpoint/2010/main" val="2708749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Avantages de Git - Intégrité des Données</a:t>
            </a:r>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3903781"/>
          </a:xfrm>
        </p:spPr>
        <p:txBody>
          <a:bodyPr>
            <a:noAutofit/>
          </a:bodyPr>
          <a:lstStyle/>
          <a:p>
            <a:pPr marL="0" indent="0">
              <a:buNone/>
            </a:pPr>
            <a:r>
              <a:rPr lang="fr-FR" sz="2400" b="1" dirty="0"/>
              <a:t>Utilisation de SHA-1</a:t>
            </a:r>
            <a:endParaRPr lang="fr-FR" sz="2400" dirty="0"/>
          </a:p>
          <a:p>
            <a:r>
              <a:rPr lang="fr-FR" sz="2400" dirty="0"/>
              <a:t>Chaque fichier et modification est identifié par une clé unique.</a:t>
            </a:r>
          </a:p>
          <a:p>
            <a:r>
              <a:rPr lang="fr-FR" sz="2400" dirty="0"/>
              <a:t>Garantit que les données ne sont pas altérées.</a:t>
            </a:r>
          </a:p>
          <a:p>
            <a:pPr marL="0" indent="0">
              <a:buNone/>
            </a:pPr>
            <a:r>
              <a:rPr lang="fr-FR" sz="2400" b="1" dirty="0"/>
              <a:t>Mécanismes de vérification</a:t>
            </a:r>
            <a:endParaRPr lang="fr-FR" sz="2400" dirty="0"/>
          </a:p>
          <a:p>
            <a:r>
              <a:rPr lang="fr-FR" sz="2400" dirty="0"/>
              <a:t>Git vérifie automatiquement l'intégrité des fichiers.</a:t>
            </a:r>
          </a:p>
          <a:p>
            <a:r>
              <a:rPr lang="fr-FR" sz="2400" dirty="0"/>
              <a:t>Protection contre les pertes de données.</a:t>
            </a:r>
          </a:p>
          <a:p>
            <a:endParaRPr lang="fr-FR" sz="2400" dirty="0"/>
          </a:p>
        </p:txBody>
      </p:sp>
    </p:spTree>
    <p:extLst>
      <p:ext uri="{BB962C8B-B14F-4D97-AF65-F5344CB8AC3E}">
        <p14:creationId xmlns:p14="http://schemas.microsoft.com/office/powerpoint/2010/main" val="137348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Panorama des Offres autour de Git</a:t>
            </a:r>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4267196"/>
          </a:xfrm>
        </p:spPr>
        <p:txBody>
          <a:bodyPr>
            <a:noAutofit/>
          </a:bodyPr>
          <a:lstStyle/>
          <a:p>
            <a:pPr marL="0" indent="0">
              <a:buNone/>
            </a:pPr>
            <a:r>
              <a:rPr lang="fr-FR" sz="2800" b="1" dirty="0"/>
              <a:t>Outils populaires</a:t>
            </a:r>
            <a:endParaRPr lang="fr-FR" sz="2800" dirty="0"/>
          </a:p>
          <a:p>
            <a:r>
              <a:rPr lang="fr-FR" sz="2400" b="1" dirty="0"/>
              <a:t>GitHub</a:t>
            </a:r>
            <a:r>
              <a:rPr lang="fr-FR" sz="2400" dirty="0"/>
              <a:t> : Collaboration, projets open source, CI/CD.</a:t>
            </a:r>
          </a:p>
          <a:p>
            <a:r>
              <a:rPr lang="fr-FR" sz="2400" b="1" dirty="0" err="1"/>
              <a:t>GitLab</a:t>
            </a:r>
            <a:r>
              <a:rPr lang="fr-FR" sz="2400" dirty="0"/>
              <a:t> : Intégration </a:t>
            </a:r>
            <a:r>
              <a:rPr lang="fr-FR" sz="2400" dirty="0" err="1"/>
              <a:t>DevOps</a:t>
            </a:r>
            <a:r>
              <a:rPr lang="fr-FR" sz="2400" dirty="0"/>
              <a:t> complète, auto-hébergement.</a:t>
            </a:r>
          </a:p>
          <a:p>
            <a:r>
              <a:rPr lang="fr-FR" sz="2400" b="1" dirty="0" err="1"/>
              <a:t>Bitbucket</a:t>
            </a:r>
            <a:r>
              <a:rPr lang="fr-FR" sz="2400" dirty="0"/>
              <a:t> : Support Mercurial et Git, intégration </a:t>
            </a:r>
            <a:r>
              <a:rPr lang="fr-FR" sz="2400" dirty="0" err="1"/>
              <a:t>Atlassian</a:t>
            </a:r>
            <a:r>
              <a:rPr lang="fr-FR" sz="2400" dirty="0"/>
              <a:t>.</a:t>
            </a:r>
          </a:p>
          <a:p>
            <a:pPr marL="0" indent="0">
              <a:buNone/>
            </a:pPr>
            <a:r>
              <a:rPr lang="fr-FR" sz="2800" b="1" dirty="0"/>
              <a:t>Comparaison</a:t>
            </a:r>
            <a:endParaRPr lang="fr-FR" sz="2800" dirty="0"/>
          </a:p>
          <a:p>
            <a:r>
              <a:rPr lang="fr-FR" sz="2400" dirty="0"/>
              <a:t>GitHub : Meilleur pour les projets open source.</a:t>
            </a:r>
          </a:p>
          <a:p>
            <a:r>
              <a:rPr lang="fr-FR" sz="2400" dirty="0" err="1"/>
              <a:t>GitLab</a:t>
            </a:r>
            <a:r>
              <a:rPr lang="fr-FR" sz="2400" dirty="0"/>
              <a:t> : Idéal pour les entreprises.</a:t>
            </a:r>
          </a:p>
          <a:p>
            <a:r>
              <a:rPr lang="fr-FR" sz="2400" dirty="0" err="1"/>
              <a:t>Bitbucket</a:t>
            </a:r>
            <a:r>
              <a:rPr lang="fr-FR" sz="2400" dirty="0"/>
              <a:t> : Adapté aux équipes </a:t>
            </a:r>
            <a:r>
              <a:rPr lang="fr-FR" sz="2400" dirty="0" err="1"/>
              <a:t>Atlassian</a:t>
            </a:r>
            <a:r>
              <a:rPr lang="fr-FR" sz="2400" dirty="0"/>
              <a:t>.</a:t>
            </a:r>
          </a:p>
        </p:txBody>
      </p:sp>
    </p:spTree>
    <p:extLst>
      <p:ext uri="{BB962C8B-B14F-4D97-AF65-F5344CB8AC3E}">
        <p14:creationId xmlns:p14="http://schemas.microsoft.com/office/powerpoint/2010/main" val="3893688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Installation de Git - Méthode 1 : Sources</a:t>
            </a:r>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4267196"/>
          </a:xfrm>
        </p:spPr>
        <p:txBody>
          <a:bodyPr>
            <a:noAutofit/>
          </a:bodyPr>
          <a:lstStyle/>
          <a:p>
            <a:pPr marL="0" indent="0">
              <a:buNone/>
            </a:pPr>
            <a:endParaRPr lang="fr-FR" sz="2800" b="1" dirty="0"/>
          </a:p>
          <a:p>
            <a:pPr marL="0" indent="0">
              <a:buNone/>
            </a:pPr>
            <a:r>
              <a:rPr lang="fr-FR" sz="2800" b="1" dirty="0"/>
              <a:t>Étapes pour télécharger et compiler Git</a:t>
            </a:r>
            <a:endParaRPr lang="fr-FR" sz="2800" dirty="0"/>
          </a:p>
          <a:p>
            <a:r>
              <a:rPr lang="fr-FR" sz="2800" dirty="0"/>
              <a:t>Télécharger le code source depuis le site officiel.</a:t>
            </a:r>
          </a:p>
          <a:p>
            <a:r>
              <a:rPr lang="fr-FR" sz="2800" dirty="0"/>
              <a:t>Installer les outils nécessaires (compilateurs, bibliothèques).</a:t>
            </a:r>
          </a:p>
          <a:p>
            <a:r>
              <a:rPr lang="fr-FR" sz="2800" dirty="0"/>
              <a:t>Exécuter les commandes :</a:t>
            </a:r>
          </a:p>
          <a:p>
            <a:r>
              <a:rPr lang="fr-FR" sz="2800" dirty="0" err="1">
                <a:solidFill>
                  <a:srgbClr val="7030A0"/>
                </a:solidFill>
              </a:rPr>
              <a:t>make</a:t>
            </a:r>
            <a:r>
              <a:rPr lang="fr-FR" sz="2800" dirty="0">
                <a:solidFill>
                  <a:srgbClr val="7030A0"/>
                </a:solidFill>
              </a:rPr>
              <a:t> configure</a:t>
            </a:r>
          </a:p>
          <a:p>
            <a:r>
              <a:rPr lang="fr-FR" sz="2800" dirty="0" err="1">
                <a:solidFill>
                  <a:srgbClr val="7030A0"/>
                </a:solidFill>
              </a:rPr>
              <a:t>make</a:t>
            </a:r>
            <a:r>
              <a:rPr lang="fr-FR" sz="2800" dirty="0">
                <a:solidFill>
                  <a:srgbClr val="7030A0"/>
                </a:solidFill>
              </a:rPr>
              <a:t> all</a:t>
            </a:r>
          </a:p>
          <a:p>
            <a:r>
              <a:rPr lang="fr-FR" sz="2800" dirty="0" err="1">
                <a:solidFill>
                  <a:srgbClr val="7030A0"/>
                </a:solidFill>
              </a:rPr>
              <a:t>make</a:t>
            </a:r>
            <a:r>
              <a:rPr lang="fr-FR" sz="2800" dirty="0">
                <a:solidFill>
                  <a:srgbClr val="7030A0"/>
                </a:solidFill>
              </a:rPr>
              <a:t> </a:t>
            </a:r>
            <a:r>
              <a:rPr lang="fr-FR" sz="2800" dirty="0" err="1">
                <a:solidFill>
                  <a:srgbClr val="7030A0"/>
                </a:solidFill>
              </a:rPr>
              <a:t>install</a:t>
            </a:r>
            <a:endParaRPr lang="fr-FR" sz="2800" dirty="0">
              <a:solidFill>
                <a:srgbClr val="7030A0"/>
              </a:solidFill>
            </a:endParaRPr>
          </a:p>
          <a:p>
            <a:pPr marL="0" indent="0">
              <a:buNone/>
            </a:pPr>
            <a:endParaRPr lang="fr-FR" sz="2400" dirty="0"/>
          </a:p>
        </p:txBody>
      </p:sp>
    </p:spTree>
    <p:extLst>
      <p:ext uri="{BB962C8B-B14F-4D97-AF65-F5344CB8AC3E}">
        <p14:creationId xmlns:p14="http://schemas.microsoft.com/office/powerpoint/2010/main" val="3047557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Installation de Git - Méthode 2 : </a:t>
            </a:r>
            <a:r>
              <a:rPr lang="fr-FR" b="1" dirty="0" err="1"/>
              <a:t>Binaries</a:t>
            </a:r>
            <a:endParaRPr lang="fr-FR" b="1"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4267196"/>
          </a:xfrm>
        </p:spPr>
        <p:txBody>
          <a:bodyPr>
            <a:noAutofit/>
          </a:bodyPr>
          <a:lstStyle/>
          <a:p>
            <a:pPr marL="0" indent="0">
              <a:buNone/>
            </a:pPr>
            <a:r>
              <a:rPr lang="fr-FR" sz="3200" b="1" dirty="0"/>
              <a:t>Gestionnaires de paquets</a:t>
            </a:r>
          </a:p>
          <a:p>
            <a:r>
              <a:rPr lang="fr-FR" sz="3200" b="1" i="1" dirty="0"/>
              <a:t>Linux</a:t>
            </a:r>
            <a:r>
              <a:rPr lang="fr-FR" sz="3200" dirty="0"/>
              <a:t> : </a:t>
            </a:r>
            <a:r>
              <a:rPr lang="fr-FR" sz="3200" dirty="0" err="1">
                <a:solidFill>
                  <a:srgbClr val="7030A0"/>
                </a:solidFill>
              </a:rPr>
              <a:t>apt-get</a:t>
            </a:r>
            <a:r>
              <a:rPr lang="fr-FR" sz="3200" dirty="0">
                <a:solidFill>
                  <a:srgbClr val="7030A0"/>
                </a:solidFill>
              </a:rPr>
              <a:t> </a:t>
            </a:r>
            <a:r>
              <a:rPr lang="fr-FR" sz="3200" dirty="0" err="1">
                <a:solidFill>
                  <a:srgbClr val="7030A0"/>
                </a:solidFill>
              </a:rPr>
              <a:t>install</a:t>
            </a:r>
            <a:r>
              <a:rPr lang="fr-FR" sz="3200" dirty="0">
                <a:solidFill>
                  <a:srgbClr val="7030A0"/>
                </a:solidFill>
              </a:rPr>
              <a:t> git (Debian/Ubuntu)</a:t>
            </a:r>
            <a:r>
              <a:rPr lang="fr-FR" sz="3200" dirty="0"/>
              <a:t>.</a:t>
            </a:r>
          </a:p>
          <a:p>
            <a:r>
              <a:rPr lang="fr-FR" sz="3200" b="1" i="1" dirty="0" err="1"/>
              <a:t>macOS</a:t>
            </a:r>
            <a:r>
              <a:rPr lang="fr-FR" sz="3200" dirty="0"/>
              <a:t> : </a:t>
            </a:r>
            <a:r>
              <a:rPr lang="fr-FR" sz="3200" dirty="0" err="1">
                <a:solidFill>
                  <a:srgbClr val="7030A0"/>
                </a:solidFill>
              </a:rPr>
              <a:t>brew</a:t>
            </a:r>
            <a:r>
              <a:rPr lang="fr-FR" sz="3200" dirty="0">
                <a:solidFill>
                  <a:srgbClr val="7030A0"/>
                </a:solidFill>
              </a:rPr>
              <a:t> </a:t>
            </a:r>
            <a:r>
              <a:rPr lang="fr-FR" sz="3200" dirty="0" err="1">
                <a:solidFill>
                  <a:srgbClr val="7030A0"/>
                </a:solidFill>
              </a:rPr>
              <a:t>install</a:t>
            </a:r>
            <a:r>
              <a:rPr lang="fr-FR" sz="3200" dirty="0">
                <a:solidFill>
                  <a:srgbClr val="7030A0"/>
                </a:solidFill>
              </a:rPr>
              <a:t> git (</a:t>
            </a:r>
            <a:r>
              <a:rPr lang="fr-FR" sz="3200" dirty="0" err="1">
                <a:solidFill>
                  <a:srgbClr val="7030A0"/>
                </a:solidFill>
              </a:rPr>
              <a:t>Homebrew</a:t>
            </a:r>
            <a:r>
              <a:rPr lang="fr-FR" sz="3200" dirty="0">
                <a:solidFill>
                  <a:srgbClr val="7030A0"/>
                </a:solidFill>
              </a:rPr>
              <a:t>).</a:t>
            </a:r>
          </a:p>
          <a:p>
            <a:pPr marL="0" indent="0">
              <a:buNone/>
            </a:pPr>
            <a:r>
              <a:rPr lang="fr-FR" sz="3200" b="1" dirty="0"/>
              <a:t>Installateurs graphiques</a:t>
            </a:r>
            <a:endParaRPr lang="fr-FR" sz="3200" dirty="0"/>
          </a:p>
          <a:p>
            <a:r>
              <a:rPr lang="fr-FR" sz="3200" dirty="0"/>
              <a:t>Téléchargement des </a:t>
            </a:r>
            <a:r>
              <a:rPr lang="fr-FR" sz="3200" dirty="0" err="1"/>
              <a:t>binaries</a:t>
            </a:r>
            <a:r>
              <a:rPr lang="fr-FR" sz="3200" dirty="0"/>
              <a:t> sur le site officiel.</a:t>
            </a:r>
          </a:p>
          <a:p>
            <a:r>
              <a:rPr lang="fr-FR" sz="3200" dirty="0"/>
              <a:t>Installation via une interface utilisateur.</a:t>
            </a:r>
          </a:p>
          <a:p>
            <a:pPr marL="0" indent="0">
              <a:buNone/>
            </a:pPr>
            <a:endParaRPr lang="fr-FR" sz="2400" dirty="0"/>
          </a:p>
        </p:txBody>
      </p:sp>
    </p:spTree>
    <p:extLst>
      <p:ext uri="{BB962C8B-B14F-4D97-AF65-F5344CB8AC3E}">
        <p14:creationId xmlns:p14="http://schemas.microsoft.com/office/powerpoint/2010/main" val="3103342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FR" b="1" dirty="0"/>
              <a:t>Commandes Git de Base</a:t>
            </a:r>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4677504"/>
          </a:xfrm>
        </p:spPr>
        <p:txBody>
          <a:bodyPr>
            <a:noAutofit/>
          </a:bodyPr>
          <a:lstStyle/>
          <a:p>
            <a:endParaRPr lang="fr-FR" sz="3200" b="1" dirty="0"/>
          </a:p>
          <a:p>
            <a:r>
              <a:rPr lang="fr-FR" sz="2400" b="1" dirty="0"/>
              <a:t>Initialiser un dépôt</a:t>
            </a:r>
            <a:r>
              <a:rPr lang="fr-FR" sz="2400" dirty="0"/>
              <a:t> : </a:t>
            </a:r>
            <a:r>
              <a:rPr lang="fr-FR" sz="2400" dirty="0">
                <a:solidFill>
                  <a:srgbClr val="7030A0"/>
                </a:solidFill>
              </a:rPr>
              <a:t>git </a:t>
            </a:r>
            <a:r>
              <a:rPr lang="fr-FR" sz="2400" dirty="0" err="1">
                <a:solidFill>
                  <a:srgbClr val="7030A0"/>
                </a:solidFill>
              </a:rPr>
              <a:t>init</a:t>
            </a:r>
            <a:r>
              <a:rPr lang="fr-FR" sz="2400" dirty="0">
                <a:solidFill>
                  <a:srgbClr val="7030A0"/>
                </a:solidFill>
              </a:rPr>
              <a:t> </a:t>
            </a:r>
          </a:p>
          <a:p>
            <a:r>
              <a:rPr lang="fr-SN" sz="2400" b="1" dirty="0"/>
              <a:t>Ajouter le dépôt distant sur GitHub </a:t>
            </a:r>
            <a:r>
              <a:rPr lang="fr-FR" sz="2400" dirty="0">
                <a:solidFill>
                  <a:srgbClr val="7030A0"/>
                </a:solidFill>
              </a:rPr>
              <a:t>:</a:t>
            </a:r>
            <a:r>
              <a:rPr lang="fr-SN" sz="2400" dirty="0"/>
              <a:t> </a:t>
            </a:r>
          </a:p>
          <a:p>
            <a:pPr marL="0" indent="0">
              <a:buNone/>
            </a:pPr>
            <a:r>
              <a:rPr lang="fr-SN" sz="2400" dirty="0">
                <a:solidFill>
                  <a:srgbClr val="7030A0"/>
                </a:solidFill>
              </a:rPr>
              <a:t>git </a:t>
            </a:r>
            <a:r>
              <a:rPr lang="fr-SN" sz="2400" dirty="0" err="1">
                <a:solidFill>
                  <a:srgbClr val="7030A0"/>
                </a:solidFill>
              </a:rPr>
              <a:t>remote</a:t>
            </a:r>
            <a:r>
              <a:rPr lang="fr-SN" sz="2400" dirty="0">
                <a:solidFill>
                  <a:srgbClr val="7030A0"/>
                </a:solidFill>
              </a:rPr>
              <a:t> </a:t>
            </a:r>
            <a:r>
              <a:rPr lang="fr-SN" sz="2400" dirty="0" err="1">
                <a:solidFill>
                  <a:srgbClr val="7030A0"/>
                </a:solidFill>
              </a:rPr>
              <a:t>add</a:t>
            </a:r>
            <a:r>
              <a:rPr lang="fr-SN" sz="2400" dirty="0">
                <a:solidFill>
                  <a:srgbClr val="7030A0"/>
                </a:solidFill>
              </a:rPr>
              <a:t> </a:t>
            </a:r>
            <a:r>
              <a:rPr lang="fr-SN" sz="2400" dirty="0" err="1">
                <a:solidFill>
                  <a:srgbClr val="7030A0"/>
                </a:solidFill>
              </a:rPr>
              <a:t>origin</a:t>
            </a:r>
            <a:r>
              <a:rPr lang="fr-SN" sz="2400" dirty="0">
                <a:solidFill>
                  <a:srgbClr val="7030A0"/>
                </a:solidFill>
              </a:rPr>
              <a:t> https://</a:t>
            </a:r>
            <a:r>
              <a:rPr lang="fr-SN" sz="2400" dirty="0" err="1">
                <a:solidFill>
                  <a:srgbClr val="7030A0"/>
                </a:solidFill>
              </a:rPr>
              <a:t>github.com</a:t>
            </a:r>
            <a:r>
              <a:rPr lang="fr-SN" sz="2400" dirty="0">
                <a:solidFill>
                  <a:srgbClr val="7030A0"/>
                </a:solidFill>
              </a:rPr>
              <a:t>/</a:t>
            </a:r>
            <a:r>
              <a:rPr lang="fr-SN" sz="2400" dirty="0" err="1">
                <a:solidFill>
                  <a:srgbClr val="7030A0"/>
                </a:solidFill>
              </a:rPr>
              <a:t>Mariama-Nd</a:t>
            </a:r>
            <a:r>
              <a:rPr lang="fr-SN" sz="2400" dirty="0">
                <a:solidFill>
                  <a:srgbClr val="7030A0"/>
                </a:solidFill>
              </a:rPr>
              <a:t>/</a:t>
            </a:r>
            <a:r>
              <a:rPr lang="fr-SN" sz="2400" dirty="0" err="1">
                <a:solidFill>
                  <a:srgbClr val="7030A0"/>
                </a:solidFill>
              </a:rPr>
              <a:t>test.git</a:t>
            </a:r>
            <a:endParaRPr lang="fr-FR" sz="2400" dirty="0">
              <a:solidFill>
                <a:srgbClr val="7030A0"/>
              </a:solidFill>
            </a:endParaRPr>
          </a:p>
          <a:p>
            <a:r>
              <a:rPr lang="fr-FR" sz="2400" b="1" dirty="0"/>
              <a:t>Ajouter des fichiers</a:t>
            </a:r>
            <a:r>
              <a:rPr lang="fr-FR" sz="2400" dirty="0"/>
              <a:t> :</a:t>
            </a:r>
            <a:r>
              <a:rPr lang="fr-FR" sz="2400" dirty="0">
                <a:solidFill>
                  <a:srgbClr val="7030A0"/>
                </a:solidFill>
              </a:rPr>
              <a:t> git </a:t>
            </a:r>
            <a:r>
              <a:rPr lang="fr-FR" sz="2400" dirty="0" err="1">
                <a:solidFill>
                  <a:srgbClr val="7030A0"/>
                </a:solidFill>
              </a:rPr>
              <a:t>add</a:t>
            </a:r>
            <a:r>
              <a:rPr lang="fr-FR" sz="2400" dirty="0">
                <a:solidFill>
                  <a:srgbClr val="7030A0"/>
                </a:solidFill>
              </a:rPr>
              <a:t> </a:t>
            </a:r>
            <a:r>
              <a:rPr lang="fr-FR" sz="2400" dirty="0" err="1">
                <a:solidFill>
                  <a:srgbClr val="7030A0"/>
                </a:solidFill>
              </a:rPr>
              <a:t>README.txt</a:t>
            </a:r>
            <a:r>
              <a:rPr lang="fr-FR" sz="2400" dirty="0">
                <a:solidFill>
                  <a:srgbClr val="7030A0"/>
                </a:solidFill>
              </a:rPr>
              <a:t> ou (.)</a:t>
            </a:r>
          </a:p>
          <a:p>
            <a:r>
              <a:rPr lang="fr-FR" sz="2400" b="1" dirty="0"/>
              <a:t>Créer un commit</a:t>
            </a:r>
            <a:r>
              <a:rPr lang="fr-FR" sz="2400" dirty="0"/>
              <a:t> : </a:t>
            </a:r>
            <a:r>
              <a:rPr lang="fr-FR" sz="2400" dirty="0">
                <a:solidFill>
                  <a:srgbClr val="7030A0"/>
                </a:solidFill>
              </a:rPr>
              <a:t>git commit -m "Mon premier commit" </a:t>
            </a:r>
          </a:p>
          <a:p>
            <a:r>
              <a:rPr lang="fr-SN" sz="2400" b="1" dirty="0"/>
              <a:t>Pousser (push) les changements vers GitHub</a:t>
            </a:r>
            <a:r>
              <a:rPr lang="fr-SN" sz="2400" dirty="0"/>
              <a:t> : </a:t>
            </a:r>
          </a:p>
          <a:p>
            <a:pPr marL="0" indent="0">
              <a:buNone/>
            </a:pPr>
            <a:r>
              <a:rPr lang="fr-SN" sz="2400" dirty="0">
                <a:solidFill>
                  <a:srgbClr val="7030A0"/>
                </a:solidFill>
              </a:rPr>
              <a:t>git push -u </a:t>
            </a:r>
            <a:r>
              <a:rPr lang="fr-SN" sz="2400" dirty="0" err="1">
                <a:solidFill>
                  <a:srgbClr val="7030A0"/>
                </a:solidFill>
              </a:rPr>
              <a:t>origin</a:t>
            </a:r>
            <a:r>
              <a:rPr lang="fr-SN" sz="2400" dirty="0">
                <a:solidFill>
                  <a:srgbClr val="7030A0"/>
                </a:solidFill>
              </a:rPr>
              <a:t> master </a:t>
            </a:r>
            <a:r>
              <a:rPr lang="fr-FR" sz="2400" dirty="0">
                <a:solidFill>
                  <a:srgbClr val="7030A0"/>
                </a:solidFill>
              </a:rPr>
              <a:t> </a:t>
            </a:r>
          </a:p>
          <a:p>
            <a:r>
              <a:rPr lang="fr-FR" sz="2400" b="1" dirty="0"/>
              <a:t>Voir l'historique</a:t>
            </a:r>
            <a:r>
              <a:rPr lang="fr-FR" sz="2400" dirty="0"/>
              <a:t> : </a:t>
            </a:r>
            <a:r>
              <a:rPr lang="fr-FR" sz="2400" dirty="0">
                <a:solidFill>
                  <a:srgbClr val="7030A0"/>
                </a:solidFill>
              </a:rPr>
              <a:t>git log </a:t>
            </a:r>
          </a:p>
          <a:p>
            <a:r>
              <a:rPr lang="fr-FR" sz="2400" b="1" dirty="0"/>
              <a:t>Cloner un </a:t>
            </a:r>
            <a:r>
              <a:rPr lang="fr-SN" sz="2400" b="1" dirty="0"/>
              <a:t>dépôt</a:t>
            </a:r>
            <a:r>
              <a:rPr lang="fr-FR" sz="2400" dirty="0"/>
              <a:t> </a:t>
            </a:r>
            <a:r>
              <a:rPr lang="fr-SN" sz="2400" b="1" dirty="0"/>
              <a:t>distant </a:t>
            </a:r>
            <a:r>
              <a:rPr lang="fr-FR" sz="2400" dirty="0"/>
              <a:t>: </a:t>
            </a:r>
            <a:r>
              <a:rPr lang="fr-FR" sz="2400" dirty="0">
                <a:solidFill>
                  <a:srgbClr val="7030A0"/>
                </a:solidFill>
              </a:rPr>
              <a:t>git clone URL</a:t>
            </a:r>
          </a:p>
          <a:p>
            <a:pPr marL="0" indent="0">
              <a:buNone/>
            </a:pPr>
            <a:endParaRPr lang="fr-FR" sz="2400" dirty="0"/>
          </a:p>
        </p:txBody>
      </p:sp>
    </p:spTree>
    <p:extLst>
      <p:ext uri="{BB962C8B-B14F-4D97-AF65-F5344CB8AC3E}">
        <p14:creationId xmlns:p14="http://schemas.microsoft.com/office/powerpoint/2010/main" val="1488837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SN" b="1" dirty="0"/>
              <a:t>Configuration et Mise en Place de Git</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4267196"/>
          </a:xfrm>
        </p:spPr>
        <p:txBody>
          <a:bodyPr>
            <a:noAutofit/>
          </a:bodyPr>
          <a:lstStyle/>
          <a:p>
            <a:r>
              <a:rPr lang="fr-SN" sz="2400" b="1" dirty="0"/>
              <a:t>Fichiers de Configuration</a:t>
            </a:r>
            <a:endParaRPr lang="fr-FR" sz="2400" dirty="0"/>
          </a:p>
          <a:p>
            <a:r>
              <a:rPr lang="fr-SN" sz="2400" dirty="0"/>
              <a:t>Git utilise deux fichiers de configuration principaux :</a:t>
            </a:r>
            <a:endParaRPr lang="fr-FR" sz="2400" dirty="0"/>
          </a:p>
          <a:p>
            <a:pPr lvl="0"/>
            <a:r>
              <a:rPr lang="fr-SN" sz="2400" b="1" dirty="0"/>
              <a:t>Configuration globale</a:t>
            </a:r>
            <a:r>
              <a:rPr lang="fr-SN" sz="2400" dirty="0"/>
              <a:t> : Ce fichier est situé dans le répertoire personnel de l'utilisateur. Les paramètres définis ici s'appliquent à tous les dépôts Git de l'utilisateur. Le chemin du fichier est généralement:</a:t>
            </a:r>
          </a:p>
          <a:p>
            <a:pPr marL="0" lvl="0" indent="0">
              <a:buNone/>
            </a:pPr>
            <a:r>
              <a:rPr lang="fr-SN" sz="2400" dirty="0"/>
              <a:t> </a:t>
            </a:r>
            <a:r>
              <a:rPr lang="fr-SN" sz="2400" dirty="0">
                <a:solidFill>
                  <a:srgbClr val="7030A0"/>
                </a:solidFill>
              </a:rPr>
              <a:t>~/.</a:t>
            </a:r>
            <a:r>
              <a:rPr lang="fr-SN" sz="2400" dirty="0" err="1">
                <a:solidFill>
                  <a:srgbClr val="7030A0"/>
                </a:solidFill>
              </a:rPr>
              <a:t>gitconfig</a:t>
            </a:r>
            <a:r>
              <a:rPr lang="fr-SN" sz="2400" dirty="0">
                <a:solidFill>
                  <a:srgbClr val="7030A0"/>
                </a:solidFill>
              </a:rPr>
              <a:t> (Mac et Linux),</a:t>
            </a:r>
            <a:r>
              <a:rPr lang="fr-SN" dirty="0"/>
              <a:t>      </a:t>
            </a:r>
            <a:r>
              <a:rPr lang="fr-SN" sz="2400" dirty="0">
                <a:solidFill>
                  <a:srgbClr val="7030A0"/>
                </a:solidFill>
              </a:rPr>
              <a:t>\.</a:t>
            </a:r>
            <a:r>
              <a:rPr lang="fr-SN" sz="2400" dirty="0" err="1">
                <a:solidFill>
                  <a:srgbClr val="7030A0"/>
                </a:solidFill>
              </a:rPr>
              <a:t>gitconfig</a:t>
            </a:r>
            <a:r>
              <a:rPr lang="fr-SN" sz="2400" dirty="0">
                <a:solidFill>
                  <a:srgbClr val="7030A0"/>
                </a:solidFill>
              </a:rPr>
              <a:t> (Windows)</a:t>
            </a:r>
            <a:r>
              <a:rPr lang="fr-SN" sz="2400" dirty="0"/>
              <a:t>.</a:t>
            </a:r>
            <a:endParaRPr lang="fr-FR" sz="2400" dirty="0"/>
          </a:p>
          <a:p>
            <a:pPr lvl="0"/>
            <a:r>
              <a:rPr lang="fr-SN" sz="2400" b="1" dirty="0"/>
              <a:t>Configuration locale</a:t>
            </a:r>
            <a:r>
              <a:rPr lang="fr-SN" sz="2400" dirty="0"/>
              <a:t> : Ce fichier est spécifique à un dépôt particulier. Les paramètres définis dans ce fichier n'affectent que le dépôt en question. Il se trouve dans le répertoire .git du dépôt, à l'emplacement </a:t>
            </a:r>
            <a:r>
              <a:rPr lang="fr-SN" sz="2400" dirty="0">
                <a:solidFill>
                  <a:srgbClr val="7030A0"/>
                </a:solidFill>
              </a:rPr>
              <a:t>.git/config</a:t>
            </a:r>
            <a:r>
              <a:rPr lang="fr-SN" sz="2400" dirty="0"/>
              <a:t>.</a:t>
            </a:r>
            <a:endParaRPr lang="fr-FR" sz="2400" dirty="0"/>
          </a:p>
          <a:p>
            <a:pPr marL="0" indent="0">
              <a:buNone/>
            </a:pPr>
            <a:endParaRPr lang="fr-FR" sz="2400" dirty="0"/>
          </a:p>
        </p:txBody>
      </p:sp>
    </p:spTree>
    <p:extLst>
      <p:ext uri="{BB962C8B-B14F-4D97-AF65-F5344CB8AC3E}">
        <p14:creationId xmlns:p14="http://schemas.microsoft.com/office/powerpoint/2010/main" val="2272851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SN" b="1" dirty="0"/>
              <a:t>Commandes de Configuration de Base</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4267196"/>
          </a:xfrm>
        </p:spPr>
        <p:txBody>
          <a:bodyPr>
            <a:noAutofit/>
          </a:bodyPr>
          <a:lstStyle/>
          <a:p>
            <a:endParaRPr lang="fr-SN" sz="2400" dirty="0"/>
          </a:p>
          <a:p>
            <a:r>
              <a:rPr lang="fr-SN" sz="2400" dirty="0"/>
              <a:t>Voici les commandes de base pour configurer votre nom d'utilisateur et votre adresse e-mail :</a:t>
            </a:r>
          </a:p>
          <a:p>
            <a:r>
              <a:rPr lang="fr-SN" sz="2400" b="1" dirty="0"/>
              <a:t># Configurer le nom d'utilisateur</a:t>
            </a:r>
            <a:endParaRPr lang="fr-FR" sz="2400" b="1" dirty="0"/>
          </a:p>
          <a:p>
            <a:r>
              <a:rPr lang="fr-SN" sz="2400" dirty="0">
                <a:solidFill>
                  <a:srgbClr val="7030A0"/>
                </a:solidFill>
              </a:rPr>
              <a:t>git config --global </a:t>
            </a:r>
            <a:r>
              <a:rPr lang="fr-SN" sz="2400" dirty="0" err="1">
                <a:solidFill>
                  <a:srgbClr val="7030A0"/>
                </a:solidFill>
              </a:rPr>
              <a:t>user.name</a:t>
            </a:r>
            <a:r>
              <a:rPr lang="fr-SN" sz="2400">
                <a:solidFill>
                  <a:srgbClr val="7030A0"/>
                </a:solidFill>
              </a:rPr>
              <a:t> "Votre Nom"</a:t>
            </a:r>
            <a:endParaRPr lang="fr-FR" sz="2400" dirty="0">
              <a:solidFill>
                <a:srgbClr val="7030A0"/>
              </a:solidFill>
            </a:endParaRPr>
          </a:p>
          <a:p>
            <a:r>
              <a:rPr lang="fr-SN" sz="2400" b="1" dirty="0"/>
              <a:t># Configurer l'adresse e-mail</a:t>
            </a:r>
            <a:endParaRPr lang="fr-FR" sz="2400" b="1" dirty="0"/>
          </a:p>
          <a:p>
            <a:r>
              <a:rPr lang="fr-SN" sz="2400" dirty="0">
                <a:solidFill>
                  <a:srgbClr val="7030A0"/>
                </a:solidFill>
              </a:rPr>
              <a:t>git config --global </a:t>
            </a:r>
            <a:r>
              <a:rPr lang="fr-SN" sz="2400" dirty="0" err="1">
                <a:solidFill>
                  <a:srgbClr val="7030A0"/>
                </a:solidFill>
              </a:rPr>
              <a:t>user.email</a:t>
            </a:r>
            <a:r>
              <a:rPr lang="fr-SN" sz="2400" dirty="0">
                <a:solidFill>
                  <a:srgbClr val="7030A0"/>
                </a:solidFill>
              </a:rPr>
              <a:t> "</a:t>
            </a:r>
            <a:r>
              <a:rPr lang="fr-SN" sz="2400" dirty="0" err="1">
                <a:solidFill>
                  <a:srgbClr val="7030A0"/>
                </a:solidFill>
              </a:rPr>
              <a:t>votre.email@example.com</a:t>
            </a:r>
            <a:r>
              <a:rPr lang="fr-SN" sz="2400" dirty="0">
                <a:solidFill>
                  <a:srgbClr val="7030A0"/>
                </a:solidFill>
              </a:rPr>
              <a:t>"</a:t>
            </a:r>
            <a:endParaRPr lang="fr-FR" sz="2400" dirty="0">
              <a:solidFill>
                <a:srgbClr val="7030A0"/>
              </a:solidFill>
            </a:endParaRPr>
          </a:p>
          <a:p>
            <a:r>
              <a:rPr lang="fr-SN" sz="2400" dirty="0"/>
              <a:t>L'option --global indique que ces paramètres s'appliquent à tous les dépôts de l'utilisateur. Si vous omettez --</a:t>
            </a:r>
            <a:r>
              <a:rPr lang="fr-SN" sz="2400" dirty="0" err="1"/>
              <a:t>g&amp;lobal</a:t>
            </a:r>
            <a:r>
              <a:rPr lang="fr-SN" sz="2400" dirty="0"/>
              <a:t>, les paramètres seront appliqués uniquement au dépôt courant.</a:t>
            </a:r>
            <a:endParaRPr lang="fr-FR" sz="2400" dirty="0"/>
          </a:p>
          <a:p>
            <a:pPr marL="0" indent="0">
              <a:buNone/>
            </a:pPr>
            <a:endParaRPr lang="fr-FR" sz="2400" dirty="0"/>
          </a:p>
        </p:txBody>
      </p:sp>
    </p:spTree>
    <p:extLst>
      <p:ext uri="{BB962C8B-B14F-4D97-AF65-F5344CB8AC3E}">
        <p14:creationId xmlns:p14="http://schemas.microsoft.com/office/powerpoint/2010/main" val="3816894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SN" b="1" dirty="0"/>
              <a:t>3. Configuration des Alias et Paramètres Personnalisés</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4267196"/>
          </a:xfrm>
        </p:spPr>
        <p:txBody>
          <a:bodyPr>
            <a:noAutofit/>
          </a:bodyPr>
          <a:lstStyle/>
          <a:p>
            <a:r>
              <a:rPr lang="fr-SN" sz="3200" dirty="0"/>
              <a:t>Les alias de commandes peuvent rendre votre utilisation de Git plus efficace. Voici comment en créer :</a:t>
            </a:r>
          </a:p>
          <a:p>
            <a:r>
              <a:rPr lang="fr-SN" sz="3200" b="1" dirty="0"/>
              <a:t>Créer un alias pour la commande </a:t>
            </a:r>
            <a:r>
              <a:rPr lang="fr-SN" sz="3200" b="1" dirty="0" err="1"/>
              <a:t>list</a:t>
            </a:r>
            <a:endParaRPr lang="fr-SN" sz="3200" b="1" dirty="0"/>
          </a:p>
          <a:p>
            <a:r>
              <a:rPr lang="en-US" sz="3200" dirty="0" err="1">
                <a:solidFill>
                  <a:srgbClr val="7030A0"/>
                </a:solidFill>
              </a:rPr>
              <a:t>git</a:t>
            </a:r>
            <a:r>
              <a:rPr lang="en-US" sz="3200" dirty="0">
                <a:solidFill>
                  <a:srgbClr val="7030A0"/>
                </a:solidFill>
              </a:rPr>
              <a:t> </a:t>
            </a:r>
            <a:r>
              <a:rPr lang="en-US" sz="3200" dirty="0" err="1">
                <a:solidFill>
                  <a:srgbClr val="7030A0"/>
                </a:solidFill>
              </a:rPr>
              <a:t>config</a:t>
            </a:r>
            <a:r>
              <a:rPr lang="en-US" sz="3200" dirty="0">
                <a:solidFill>
                  <a:srgbClr val="7030A0"/>
                </a:solidFill>
              </a:rPr>
              <a:t> --global  </a:t>
            </a:r>
            <a:r>
              <a:rPr lang="en-US" sz="3200" dirty="0" err="1">
                <a:solidFill>
                  <a:srgbClr val="7030A0"/>
                </a:solidFill>
              </a:rPr>
              <a:t>alias.lst</a:t>
            </a:r>
            <a:r>
              <a:rPr lang="en-US" sz="3200" dirty="0">
                <a:solidFill>
                  <a:srgbClr val="7030A0"/>
                </a:solidFill>
              </a:rPr>
              <a:t> list</a:t>
            </a:r>
            <a:endParaRPr lang="fr-SN" sz="3200" b="1" dirty="0">
              <a:solidFill>
                <a:srgbClr val="7030A0"/>
              </a:solidFill>
            </a:endParaRPr>
          </a:p>
          <a:p>
            <a:r>
              <a:rPr lang="fr-SN" sz="3200" dirty="0"/>
              <a:t>Pour voir tous vos alias, vous pouvez utiliser :</a:t>
            </a:r>
            <a:endParaRPr lang="fr-FR" sz="3200" dirty="0"/>
          </a:p>
          <a:p>
            <a:r>
              <a:rPr lang="en-US" sz="3200" dirty="0" err="1">
                <a:solidFill>
                  <a:srgbClr val="7030A0"/>
                </a:solidFill>
              </a:rPr>
              <a:t>git</a:t>
            </a:r>
            <a:r>
              <a:rPr lang="en-US" sz="3200" dirty="0">
                <a:solidFill>
                  <a:srgbClr val="7030A0"/>
                </a:solidFill>
              </a:rPr>
              <a:t> </a:t>
            </a:r>
            <a:r>
              <a:rPr lang="en-US" sz="3200" dirty="0" err="1">
                <a:solidFill>
                  <a:srgbClr val="7030A0"/>
                </a:solidFill>
              </a:rPr>
              <a:t>config</a:t>
            </a:r>
            <a:r>
              <a:rPr lang="en-US" sz="3200" dirty="0">
                <a:solidFill>
                  <a:srgbClr val="7030A0"/>
                </a:solidFill>
              </a:rPr>
              <a:t> --global --get-</a:t>
            </a:r>
            <a:r>
              <a:rPr lang="en-US" sz="3200" dirty="0" err="1">
                <a:solidFill>
                  <a:srgbClr val="7030A0"/>
                </a:solidFill>
              </a:rPr>
              <a:t>regexp</a:t>
            </a:r>
            <a:r>
              <a:rPr lang="en-US" sz="3200" dirty="0">
                <a:solidFill>
                  <a:srgbClr val="7030A0"/>
                </a:solidFill>
              </a:rPr>
              <a:t> alias</a:t>
            </a:r>
            <a:endParaRPr lang="fr-FR" sz="3200" dirty="0">
              <a:solidFill>
                <a:srgbClr val="7030A0"/>
              </a:solidFill>
            </a:endParaRPr>
          </a:p>
          <a:p>
            <a:pPr marL="0" indent="0">
              <a:buNone/>
            </a:pPr>
            <a:endParaRPr lang="fr-FR" sz="2400" dirty="0"/>
          </a:p>
        </p:txBody>
      </p:sp>
    </p:spTree>
    <p:extLst>
      <p:ext uri="{BB962C8B-B14F-4D97-AF65-F5344CB8AC3E}">
        <p14:creationId xmlns:p14="http://schemas.microsoft.com/office/powerpoint/2010/main" val="2358159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SN" b="1" dirty="0"/>
              <a:t>Autres Paramètres Personnalisés</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69345"/>
            <a:ext cx="11029615" cy="4267196"/>
          </a:xfrm>
        </p:spPr>
        <p:txBody>
          <a:bodyPr>
            <a:noAutofit/>
          </a:bodyPr>
          <a:lstStyle/>
          <a:p>
            <a:endParaRPr lang="fr-SN" sz="2800" b="1" dirty="0"/>
          </a:p>
          <a:p>
            <a:r>
              <a:rPr lang="fr-SN" sz="2800" b="1" dirty="0"/>
              <a:t>Vous pouvez également configurer d'autres options, comme le comportement des fins de ligne </a:t>
            </a:r>
            <a:r>
              <a:rPr lang="fr-FR" sz="2800" b="1" dirty="0"/>
              <a:t>:</a:t>
            </a:r>
          </a:p>
          <a:p>
            <a:r>
              <a:rPr lang="en-US" sz="2800" dirty="0" err="1">
                <a:solidFill>
                  <a:srgbClr val="7030A0"/>
                </a:solidFill>
              </a:rPr>
              <a:t>git</a:t>
            </a:r>
            <a:r>
              <a:rPr lang="en-US" sz="2800" dirty="0">
                <a:solidFill>
                  <a:srgbClr val="7030A0"/>
                </a:solidFill>
              </a:rPr>
              <a:t> </a:t>
            </a:r>
            <a:r>
              <a:rPr lang="en-US" sz="2800" dirty="0" err="1">
                <a:solidFill>
                  <a:srgbClr val="7030A0"/>
                </a:solidFill>
              </a:rPr>
              <a:t>config</a:t>
            </a:r>
            <a:r>
              <a:rPr lang="en-US" sz="2800" dirty="0">
                <a:solidFill>
                  <a:srgbClr val="7030A0"/>
                </a:solidFill>
              </a:rPr>
              <a:t> --global </a:t>
            </a:r>
            <a:r>
              <a:rPr lang="en-US" sz="2800" dirty="0" err="1">
                <a:solidFill>
                  <a:srgbClr val="7030A0"/>
                </a:solidFill>
              </a:rPr>
              <a:t>core.autocrlf</a:t>
            </a:r>
            <a:r>
              <a:rPr lang="en-US" sz="2800" dirty="0">
                <a:solidFill>
                  <a:srgbClr val="7030A0"/>
                </a:solidFill>
              </a:rPr>
              <a:t> true  </a:t>
            </a:r>
            <a:r>
              <a:rPr lang="en-US" sz="2800" b="1" dirty="0">
                <a:solidFill>
                  <a:srgbClr val="7030A0"/>
                </a:solidFill>
              </a:rPr>
              <a:t>=&gt;</a:t>
            </a:r>
            <a:r>
              <a:rPr lang="en-US" sz="2800" dirty="0">
                <a:solidFill>
                  <a:srgbClr val="7030A0"/>
                </a:solidFill>
              </a:rPr>
              <a:t> Pour Windows</a:t>
            </a:r>
            <a:endParaRPr lang="fr-FR" sz="2800" dirty="0">
              <a:solidFill>
                <a:srgbClr val="7030A0"/>
              </a:solidFill>
            </a:endParaRPr>
          </a:p>
          <a:p>
            <a:r>
              <a:rPr lang="fr-SN" sz="2800" dirty="0">
                <a:solidFill>
                  <a:srgbClr val="7030A0"/>
                </a:solidFill>
              </a:rPr>
              <a:t>git config --global </a:t>
            </a:r>
            <a:r>
              <a:rPr lang="fr-SN" sz="2800" dirty="0" err="1">
                <a:solidFill>
                  <a:srgbClr val="7030A0"/>
                </a:solidFill>
              </a:rPr>
              <a:t>core.autocrlf</a:t>
            </a:r>
            <a:r>
              <a:rPr lang="fr-SN" sz="2800" dirty="0">
                <a:solidFill>
                  <a:srgbClr val="7030A0"/>
                </a:solidFill>
              </a:rPr>
              <a:t> input </a:t>
            </a:r>
            <a:r>
              <a:rPr lang="fr-SN" sz="2800" b="1" dirty="0">
                <a:solidFill>
                  <a:srgbClr val="7030A0"/>
                </a:solidFill>
              </a:rPr>
              <a:t>=&gt;</a:t>
            </a:r>
            <a:r>
              <a:rPr lang="fr-SN" sz="2800" dirty="0">
                <a:solidFill>
                  <a:srgbClr val="7030A0"/>
                </a:solidFill>
              </a:rPr>
              <a:t> Pour Unix/Mac</a:t>
            </a:r>
            <a:endParaRPr lang="fr-FR" sz="2800" dirty="0">
              <a:solidFill>
                <a:srgbClr val="7030A0"/>
              </a:solidFill>
            </a:endParaRPr>
          </a:p>
          <a:p>
            <a:r>
              <a:rPr lang="fr-SN" sz="2800" b="1" dirty="0"/>
              <a:t>Définir votre éditeur par défaut</a:t>
            </a:r>
            <a:endParaRPr lang="fr-FR" sz="2800" b="1" dirty="0"/>
          </a:p>
          <a:p>
            <a:r>
              <a:rPr lang="fr-SN" sz="2800" dirty="0"/>
              <a:t>Par exemple, pour utiliser VS Code comme éditeur par défaut pour les messages de commit :</a:t>
            </a:r>
          </a:p>
          <a:p>
            <a:r>
              <a:rPr lang="fr-SN" sz="2800" dirty="0">
                <a:solidFill>
                  <a:srgbClr val="7030A0"/>
                </a:solidFill>
              </a:rPr>
              <a:t>git config –global </a:t>
            </a:r>
            <a:r>
              <a:rPr lang="fr-SN" sz="2800" dirty="0" err="1">
                <a:solidFill>
                  <a:srgbClr val="7030A0"/>
                </a:solidFill>
              </a:rPr>
              <a:t>core.editor</a:t>
            </a:r>
            <a:r>
              <a:rPr lang="fr-SN" sz="2800" dirty="0">
                <a:solidFill>
                  <a:srgbClr val="7030A0"/>
                </a:solidFill>
              </a:rPr>
              <a:t> ‘’code --</a:t>
            </a:r>
            <a:r>
              <a:rPr lang="fr-SN" sz="2800" dirty="0" err="1">
                <a:solidFill>
                  <a:srgbClr val="7030A0"/>
                </a:solidFill>
              </a:rPr>
              <a:t>wait</a:t>
            </a:r>
            <a:r>
              <a:rPr lang="fr-SN" sz="2800" dirty="0">
                <a:solidFill>
                  <a:srgbClr val="7030A0"/>
                </a:solidFill>
              </a:rPr>
              <a:t>’’</a:t>
            </a:r>
            <a:endParaRPr lang="fr-FR" sz="2800" dirty="0"/>
          </a:p>
          <a:p>
            <a:pPr marL="0" indent="0">
              <a:buNone/>
            </a:pPr>
            <a:endParaRPr lang="fr-FR" sz="2400" dirty="0"/>
          </a:p>
        </p:txBody>
      </p:sp>
    </p:spTree>
    <p:extLst>
      <p:ext uri="{BB962C8B-B14F-4D97-AF65-F5344CB8AC3E}">
        <p14:creationId xmlns:p14="http://schemas.microsoft.com/office/powerpoint/2010/main" val="311777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SN" b="1" dirty="0"/>
              <a:t>Vérification de la Configuration</a:t>
            </a:r>
            <a:endParaRPr lang="fr-FR"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4267196"/>
          </a:xfrm>
        </p:spPr>
        <p:txBody>
          <a:bodyPr>
            <a:noAutofit/>
          </a:bodyPr>
          <a:lstStyle/>
          <a:p>
            <a:r>
              <a:rPr lang="fr-SN" sz="3200" dirty="0"/>
              <a:t>Pour vérifier votre configuration actuelle, vous pouvez exécuter </a:t>
            </a:r>
          </a:p>
          <a:p>
            <a:r>
              <a:rPr lang="fr-SN" sz="3200" dirty="0">
                <a:solidFill>
                  <a:srgbClr val="7030A0"/>
                </a:solidFill>
              </a:rPr>
              <a:t>git config --</a:t>
            </a:r>
            <a:r>
              <a:rPr lang="fr-SN" sz="3200" dirty="0" err="1">
                <a:solidFill>
                  <a:srgbClr val="7030A0"/>
                </a:solidFill>
              </a:rPr>
              <a:t>list</a:t>
            </a:r>
            <a:endParaRPr lang="fr-FR" sz="3200" dirty="0">
              <a:solidFill>
                <a:srgbClr val="7030A0"/>
              </a:solidFill>
            </a:endParaRPr>
          </a:p>
          <a:p>
            <a:pPr marL="0" indent="0">
              <a:buNone/>
            </a:pPr>
            <a:r>
              <a:rPr lang="fr-SN" sz="3200" dirty="0"/>
              <a:t>Cette commande affichera tous les paramètres de configuration actifs, qu'ils soient globaux ou locaux.</a:t>
            </a:r>
            <a:endParaRPr lang="fr-FR" sz="3200" dirty="0"/>
          </a:p>
          <a:p>
            <a:pPr marL="0" indent="0">
              <a:buNone/>
            </a:pPr>
            <a:endParaRPr lang="fr-FR" sz="2400" dirty="0"/>
          </a:p>
        </p:txBody>
      </p:sp>
    </p:spTree>
    <p:extLst>
      <p:ext uri="{BB962C8B-B14F-4D97-AF65-F5344CB8AC3E}">
        <p14:creationId xmlns:p14="http://schemas.microsoft.com/office/powerpoint/2010/main" val="1196190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DB8C6E7-81E6-5F48-8BF9-A03D48F9568F}"/>
              </a:ext>
            </a:extLst>
          </p:cNvPr>
          <p:cNvSpPr>
            <a:spLocks noGrp="1"/>
          </p:cNvSpPr>
          <p:nvPr>
            <p:ph type="title"/>
          </p:nvPr>
        </p:nvSpPr>
        <p:spPr/>
        <p:txBody>
          <a:bodyPr/>
          <a:lstStyle/>
          <a:p>
            <a:r>
              <a:rPr lang="fr-SN" b="1" dirty="0"/>
              <a:t>Conclusion</a:t>
            </a:r>
            <a:endParaRPr lang="fr-FR" b="1" dirty="0"/>
          </a:p>
        </p:txBody>
      </p:sp>
      <p:sp>
        <p:nvSpPr>
          <p:cNvPr id="6" name="Espace réservé du contenu 5">
            <a:extLst>
              <a:ext uri="{FF2B5EF4-FFF2-40B4-BE49-F238E27FC236}">
                <a16:creationId xmlns:a16="http://schemas.microsoft.com/office/drawing/2014/main" id="{7B6B093F-2189-F74C-AF9A-2C1839D0DF43}"/>
              </a:ext>
            </a:extLst>
          </p:cNvPr>
          <p:cNvSpPr>
            <a:spLocks noGrp="1"/>
          </p:cNvSpPr>
          <p:nvPr>
            <p:ph idx="1"/>
          </p:nvPr>
        </p:nvSpPr>
        <p:spPr>
          <a:xfrm>
            <a:off x="581192" y="2180496"/>
            <a:ext cx="11029615" cy="4267196"/>
          </a:xfrm>
        </p:spPr>
        <p:txBody>
          <a:bodyPr>
            <a:noAutofit/>
          </a:bodyPr>
          <a:lstStyle/>
          <a:p>
            <a:pPr marL="0" indent="0">
              <a:buNone/>
            </a:pPr>
            <a:r>
              <a:rPr lang="fr-SN" sz="3600" dirty="0"/>
              <a:t>Git est un outil indispensable pour les développeurs modernes. Sa flexibilité, son efficacité et ses garanties d'intégrité en font le choix de prédilection pour les projets collaboratifs et individuels.</a:t>
            </a:r>
          </a:p>
          <a:p>
            <a:pPr marL="0" indent="0">
              <a:buNone/>
            </a:pPr>
            <a:endParaRPr lang="fr-FR" sz="2400" dirty="0"/>
          </a:p>
        </p:txBody>
      </p:sp>
    </p:spTree>
    <p:extLst>
      <p:ext uri="{BB962C8B-B14F-4D97-AF65-F5344CB8AC3E}">
        <p14:creationId xmlns:p14="http://schemas.microsoft.com/office/powerpoint/2010/main" val="4214485043"/>
      </p:ext>
    </p:extLst>
  </p:cSld>
  <p:clrMapOvr>
    <a:masterClrMapping/>
  </p:clrMapOvr>
</p:sld>
</file>

<file path=ppt/theme/theme1.xml><?xml version="1.0" encoding="utf-8"?>
<a:theme xmlns:a="http://schemas.openxmlformats.org/drawingml/2006/main" name="Dividende">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Dividende</Template>
  <TotalTime>328</TotalTime>
  <Words>921</Words>
  <Application>Microsoft Macintosh PowerPoint</Application>
  <PresentationFormat>Grand écran</PresentationFormat>
  <Paragraphs>157</Paragraphs>
  <Slides>24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24</vt:i4>
      </vt:variant>
    </vt:vector>
  </HeadingPairs>
  <TitlesOfParts>
    <vt:vector size="29" baseType="lpstr">
      <vt:lpstr>Gill Sans MT</vt:lpstr>
      <vt:lpstr>ui-monospace</vt:lpstr>
      <vt:lpstr>ui-sans-serif</vt:lpstr>
      <vt:lpstr>Wingdings 2</vt:lpstr>
      <vt:lpstr>Dividende</vt:lpstr>
      <vt:lpstr>Libasse Gassama</vt:lpstr>
      <vt:lpstr>Introduction</vt:lpstr>
      <vt:lpstr>L'importance des systèmes de versionnement dans le développement logiciel</vt:lpstr>
      <vt:lpstr>Historique des systèmes de versionnement : Une évolution essentielle</vt:lpstr>
      <vt:lpstr>Les débuts : les systèmes centralisés</vt:lpstr>
      <vt:lpstr>L'avènement des systèmes décentralisés</vt:lpstr>
      <vt:lpstr>L'avènement des systèmes décentralisés</vt:lpstr>
      <vt:lpstr>Tableau évolutif</vt:lpstr>
      <vt:lpstr>Concepts Fondamentaux de Git</vt:lpstr>
      <vt:lpstr>Dépôt (Repository)</vt:lpstr>
      <vt:lpstr>Stockage des données dans Git</vt:lpstr>
      <vt:lpstr>Objets Git</vt:lpstr>
      <vt:lpstr>Avantages de Git - Travail Local</vt:lpstr>
      <vt:lpstr>Avantages de Git - Intégrité des Données</vt:lpstr>
      <vt:lpstr>Panorama des Offres autour de Git</vt:lpstr>
      <vt:lpstr>Installation de Git - Méthode 1 : Sources</vt:lpstr>
      <vt:lpstr>Installation de Git - Méthode 2 : Binaries</vt:lpstr>
      <vt:lpstr>Commandes Git de Base</vt:lpstr>
      <vt:lpstr>Configuration et Mise en Place de Git</vt:lpstr>
      <vt:lpstr>Commandes de Configuration de Base</vt:lpstr>
      <vt:lpstr>3. Configuration des Alias et Paramètres Personnalisés</vt:lpstr>
      <vt:lpstr>Autres Paramètres Personnalisés</vt:lpstr>
      <vt:lpstr>Vérification de la Configuration</vt:lpstr>
      <vt:lpstr>Conclusion</vt:lpstr>
    </vt:vector>
  </TitlesOfParts>
  <Company/>
  <LinksUpToDate>false</LinksUpToDate>
  <SharedDoc>false</SharedDoc>
  <HyperlinksChanged>false</HyperlinksChanged>
  <AppVersion>16.0011</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Versionning</dc:title>
  <dc:creator>Utilisateur Microsoft Office</dc:creator>
  <cp:lastModifiedBy>Utilisateur Microsoft Office</cp:lastModifiedBy>
  <cp:revision>16</cp:revision>
  <dcterms:created xsi:type="dcterms:W3CDTF">2024-12-05T20:33:42Z</dcterms:created>
  <dcterms:modified xsi:type="dcterms:W3CDTF">2024-12-06T16:44:08Z</dcterms:modified>
</cp:coreProperties>
</file>